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4" r:id="rId4"/>
    <p:sldMasterId id="2147483685" r:id="rId5"/>
    <p:sldMasterId id="214748368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ae95a7244_1_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solidFill>
                  <a:schemeClr val="dk1"/>
                </a:solidFill>
              </a:rPr>
              <a:t>오늘 제가 소개해 드릴 논문은 UIUC, 프린스턴, 스탠포드, 하버드,UC버클리, 조지아텍 등 세계 유수의 연구진이 공동 집필한 **'에이전틱 AI를 위한 적응 전략: 포괄적 분류 체계'**입니다. </a:t>
            </a:r>
            <a:endParaRPr>
              <a:solidFill>
                <a:schemeClr val="dk1"/>
              </a:solidFill>
            </a:endParaRPr>
          </a:p>
          <a:p>
            <a:pPr indent="0" lvl="0" marL="0" rtl="0" algn="l">
              <a:spcBef>
                <a:spcPts val="0"/>
              </a:spcBef>
              <a:spcAft>
                <a:spcPts val="0"/>
              </a:spcAft>
              <a:buNone/>
            </a:pPr>
            <a:r>
              <a:rPr lang="ko">
                <a:solidFill>
                  <a:schemeClr val="dk1"/>
                </a:solidFill>
              </a:rPr>
              <a:t>최근 거대언어모델(LLM)의 발전은 단순히 질문에 답하는 수준을 넘어, 스스로 환경을 인식하고 계획을 세우며 도구를 사용하는 **'에이전틱 AI 시스템'**의 시대를 열었습니다.</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이 논문의 가장 큰 의의는 파편화되어 있던 에이전틱 AI의 학습 및 최적화 방법론을 최초로 하나의 포괄적인 분류 체계로 통합했다는 점에 있습니다.</a:t>
            </a:r>
            <a:endParaRPr>
              <a:solidFill>
                <a:schemeClr val="dk1"/>
              </a:solidFill>
            </a:endParaRPr>
          </a:p>
          <a:p>
            <a:pPr indent="0" lvl="0" marL="0" rtl="0" algn="l">
              <a:spcBef>
                <a:spcPts val="0"/>
              </a:spcBef>
              <a:spcAft>
                <a:spcPts val="0"/>
              </a:spcAft>
              <a:buNone/>
            </a:pPr>
            <a:r>
              <a:rPr lang="ko">
                <a:solidFill>
                  <a:schemeClr val="dk1"/>
                </a:solidFill>
              </a:rPr>
              <a:t>논문은 무엇을 최적화하고 어떤 신호를 활용하느냐에 따라 적응 전략을 네 가지 핵심 패러다임으로 정의합니다.</a:t>
            </a:r>
            <a:endParaRPr>
              <a:solidFill>
                <a:schemeClr val="dk1"/>
              </a:solidFill>
            </a:endParaRPr>
          </a:p>
        </p:txBody>
      </p:sp>
      <p:sp>
        <p:nvSpPr>
          <p:cNvPr id="195" name="Google Shape;195;g3aae95a7244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ae95a7244_1_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solidFill>
                  <a:schemeClr val="dk1"/>
                </a:solidFill>
              </a:rPr>
              <a:t>ㅁ</a:t>
            </a:r>
            <a:endParaRPr>
              <a:solidFill>
                <a:schemeClr val="dk1"/>
              </a:solidFill>
            </a:endParaRPr>
          </a:p>
        </p:txBody>
      </p:sp>
      <p:sp>
        <p:nvSpPr>
          <p:cNvPr id="202" name="Google Shape;202;g3aae95a7244_1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b772b2086f_0_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b772b2086f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772b2086f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solidFill>
                  <a:schemeClr val="dk1"/>
                </a:solidFill>
              </a:rPr>
              <a:t>에이전틱 AI(Agentic AI)의 정의와 구조에 대해 이번슬라이드에서 소개하려 합니다. </a:t>
            </a:r>
            <a:endParaRPr>
              <a:solidFill>
                <a:schemeClr val="dk1"/>
              </a:solidFill>
            </a:endParaRPr>
          </a:p>
          <a:p>
            <a:pPr indent="0" lvl="0" marL="0" rtl="0" algn="l">
              <a:spcBef>
                <a:spcPts val="0"/>
              </a:spcBef>
              <a:spcAft>
                <a:spcPts val="0"/>
              </a:spcAft>
              <a:buNone/>
            </a:pPr>
            <a:r>
              <a:rPr lang="ko">
                <a:solidFill>
                  <a:schemeClr val="dk1"/>
                </a:solidFill>
              </a:rPr>
              <a:t>먼저 에이전틱 AI란 단순히 주어진 질문에 답을 내놓는 정적인 모델이 아니라, 환경을 스스로 인식(Perceive)하고, 논리적으로 추론(Reason)하며, 목적을 달성하기 위해 직접 행동(Act)하는 자율적인 시스템을 의미합니다,. 특히 중요한 점은 환경과의 상호작용을 통해 얻은 피드백을 바탕으로 자신의 행동을 교정하며 **'지속적으로 스스로를 개선'**할 수 있다는 것입니다,. 이는 복잡하고 개방적인 과업을 해결하기 위해 필수적인 능력입니다.</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Planing : </a:t>
            </a:r>
            <a:r>
              <a:rPr lang="ko">
                <a:solidFill>
                  <a:schemeClr val="dk1"/>
                </a:solidFill>
              </a:rPr>
              <a:t>Chain-of-Thought, ReAct, Reflextion .. 등등의 리즈닝을 증강시키기 위한 메서드들</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이러한 에이전틱 AI의 내부 구조를 살펴보면, 시스템의 중심에는 추론과 제어를 담당하는 두뇌인 **'기초 모델(Foundation Model)'**이 자리 잡고 있습니다,. 거대언어모델(LLM)과 같은 이 강력한 코어를 중심으로, 에이전트의 자율성을 극대화하기 위해 세 가지 보조 모듈이 유기적으로 결합됩니다.</a:t>
            </a:r>
            <a:endParaRPr>
              <a:solidFill>
                <a:schemeClr val="dk1"/>
              </a:solidFill>
            </a:endParaRPr>
          </a:p>
        </p:txBody>
      </p:sp>
      <p:sp>
        <p:nvSpPr>
          <p:cNvPr id="213" name="Google Shape;213;g3b772b2086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763fde9ee_0_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solidFill>
                  <a:schemeClr val="dk1"/>
                </a:solidFill>
              </a:rPr>
              <a:t>적응(Adaptation)'이란 무엇일까요? 한마디로 정의하자면 AI가 특정 업무나 환경에 최적화되도록 자신의 상태를 바꾸는 과정입니다.</a:t>
            </a:r>
            <a:endParaRPr>
              <a:solidFill>
                <a:schemeClr val="dk1"/>
              </a:solidFill>
            </a:endParaRPr>
          </a:p>
          <a:p>
            <a:pPr indent="0" lvl="0" marL="0" rtl="0" algn="l">
              <a:spcBef>
                <a:spcPts val="0"/>
              </a:spcBef>
              <a:spcAft>
                <a:spcPts val="0"/>
              </a:spcAft>
              <a:buNone/>
            </a:pPr>
            <a:r>
              <a:rPr lang="ko">
                <a:solidFill>
                  <a:schemeClr val="dk1"/>
                </a:solidFill>
              </a:rPr>
              <a:t>적응의 방법론은 크게 두 갈래가 있습니다. 모델을 재학습시키지 않고 정교한 지시문만으로 유도하는 가벼운 방식인 **'프롬프트 엔지니어링'**이 있고, 모델의 뇌 구조 자체를 바꾸는 '파인튜닝' 방식이 있습니다.</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이 Adaption'기술에 주목해야 하는지 말씀드리겠습니다. 아무리 똑똑한 AI 모델이라도 실제 현장에 투입되면 도구 사용이 서툴거나, 도메인 전문 지식이 부족해 엉뚱한 답을 내놓는 등 여러 한계에 부딪히기 때문입니다. Adaption 기술은 범용 LLM을 우리가 믿고 쓸 수 있는 도구로 바꾸는데 핵심적인 기술입니다.</a:t>
            </a:r>
            <a:endParaRPr>
              <a:solidFill>
                <a:schemeClr val="dk1"/>
              </a:solidFill>
            </a:endParaRPr>
          </a:p>
        </p:txBody>
      </p:sp>
      <p:sp>
        <p:nvSpPr>
          <p:cNvPr id="219" name="Google Shape;219;g3b763fde9ee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b763fde9ee_0_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3b763fde9ee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ae95a7244_1_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에이전틱 AI의 Adaption 전략을 체계화하는 두 가지 핵심 기준은 최적화 대상과 적응신호유형입니다.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첫째, 최적화 대상(누가 변하는가)입니다. 시스템의 두뇌인 기초 모델의 매개변수나 정책을 직접 수정하면 **'에이전트 적응'**입니다. 반면, 에이전트는 그대로 두고 주변의 검색기, 플래너, 메모리 같은 외부 모듈을 개선하면 **'도구 적응'**이 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둘째, 적응 신호 유형(무엇을 보고 배우는가)입니다. 에이전트 적응 시, 도구의 실행 결과에서 피드백을 얻으면 A1, 에이전트의 최종 답변 품질을 평가해 배우면 A2입니다. 도구 적응의 경우, 도구가 스스로의 성능을 위해 독립적으로 배우면 T1, 고정된 에이전트의 입맛에 맞게 감독을 받으며 적응하면 T2로 구분됩니다.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결국 이 두 기준이 결합되어 A1, A2, T1, T2라는 네 가지 핵심 패러다임이 완성되며, 이는 복잡한 AI 시스템 설계의 전략적 이정표가 됩니다</a:t>
            </a:r>
            <a:endParaRPr/>
          </a:p>
        </p:txBody>
      </p:sp>
      <p:sp>
        <p:nvSpPr>
          <p:cNvPr id="230" name="Google Shape;230;g3aae95a7244_1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763fde9ee_0_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A1 패러다임은 에이전트가 도구를 얼마나 잘 다루는지, 즉 ‘도구 사용의 기술'에 집중합니다.</a:t>
            </a:r>
            <a:endParaRPr/>
          </a:p>
          <a:p>
            <a:pPr indent="0" lvl="0" marL="0" rtl="0" algn="l">
              <a:spcBef>
                <a:spcPts val="0"/>
              </a:spcBef>
              <a:spcAft>
                <a:spcPts val="0"/>
              </a:spcAft>
              <a:buNone/>
            </a:pPr>
            <a:r>
              <a:rPr lang="ko"/>
              <a:t>코딩툴이 짠 코드가 실제로 돌아가는지, 혹은 RAG기반 search 툴이 검색해온 자료가 정말 쓸모있는지를 보고 모델을 수정하는 방식이죠.</a:t>
            </a:r>
            <a:endParaRPr/>
          </a:p>
          <a:p>
            <a:pPr indent="0" lvl="0" marL="0" rtl="0" algn="l">
              <a:spcBef>
                <a:spcPts val="0"/>
              </a:spcBef>
              <a:spcAft>
                <a:spcPts val="0"/>
              </a:spcAft>
              <a:buClr>
                <a:schemeClr val="dk1"/>
              </a:buClr>
              <a:buSzPts val="1100"/>
              <a:buFont typeface="Arial"/>
              <a:buNone/>
            </a:pPr>
            <a:r>
              <a:rPr lang="ko">
                <a:solidFill>
                  <a:schemeClr val="dk1"/>
                </a:solidFill>
              </a:rPr>
              <a:t>즉 도구의 실행결과를 정량화해서 측정할 수 있는 메트릭으로 정렬한 다음에 이 도구 사용에 실패하지 않는 방향으로 에이전트를 학습시키는 방법론이라고 보면 될 것 같습니다.</a:t>
            </a:r>
            <a:endParaRPr>
              <a:solidFill>
                <a:schemeClr val="dk1"/>
              </a:solidFill>
            </a:endParaRPr>
          </a:p>
          <a:p>
            <a:pPr indent="0" lvl="0" marL="0" rtl="0" algn="l">
              <a:spcBef>
                <a:spcPts val="0"/>
              </a:spcBef>
              <a:spcAft>
                <a:spcPts val="0"/>
              </a:spcAft>
              <a:buNone/>
            </a:pPr>
            <a:r>
              <a:t/>
            </a:r>
            <a:endParaRPr/>
          </a:p>
        </p:txBody>
      </p:sp>
      <p:sp>
        <p:nvSpPr>
          <p:cNvPr id="237" name="Google Shape;237;g3b763fde9ee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763fde9ee_0_5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"A2 패러다임은 과정보다 “결과”를 중요하게 생각합니다.</a:t>
            </a:r>
            <a:endParaRPr/>
          </a:p>
          <a:p>
            <a:pPr indent="0" lvl="0" marL="0" rtl="0" algn="l">
              <a:spcBef>
                <a:spcPts val="0"/>
              </a:spcBef>
              <a:spcAft>
                <a:spcPts val="0"/>
              </a:spcAft>
              <a:buNone/>
            </a:pPr>
            <a:r>
              <a:rPr lang="ko"/>
              <a:t>최근 전 세계적인 주목을 받은 DeepSeek-R1이 바로 이 방식의 대표 주자입니다. 단순히 도구 쓰는 법을 배우는 게 아니라, '이 문제를 풀기 위해 지금 검색을 하는 게 나을까, 아니면 내 지식으로 추론하는 게 나을까?' 같은 고차원적인 전략을 배우는 것이죠. 이를 통해 AI는 스스로 실수를 교정하고 정답에 이르는 최적의 경로를 찾는 '생각하는 힘'을 갖게 됩니다.</a:t>
            </a:r>
            <a:endParaRPr/>
          </a:p>
          <a:p>
            <a:pPr indent="0" lvl="0" marL="0" rtl="0" algn="l">
              <a:spcBef>
                <a:spcPts val="0"/>
              </a:spcBef>
              <a:spcAft>
                <a:spcPts val="0"/>
              </a:spcAft>
              <a:buNone/>
            </a:pPr>
            <a:r>
              <a:rPr lang="ko"/>
              <a:t>DeepSeek-R1은 이 패러다임에서 RLVR을 이용해 대형 모델의 추론 능력(수학, 코딩, 논리적 추론 등)을 효과적으로 향상시킬 수 있음이 입증했었습니다. </a:t>
            </a:r>
            <a:endParaRPr/>
          </a:p>
        </p:txBody>
      </p:sp>
      <p:sp>
        <p:nvSpPr>
          <p:cNvPr id="244" name="Google Shape;244;g3b763fde9ee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763fde9ee_0_6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T1 패러다임은 에이전트를 바꾸는 대신, 에이전트가 사용하는 도구를 학습시키는 전략입니다. 이 패러다임에서 주목해야 할게 모듈성인데요.</a:t>
            </a:r>
            <a:endParaRPr/>
          </a:p>
          <a:p>
            <a:pPr indent="0" lvl="0" marL="0" rtl="0" algn="l">
              <a:spcBef>
                <a:spcPts val="0"/>
              </a:spcBef>
              <a:spcAft>
                <a:spcPts val="0"/>
              </a:spcAft>
              <a:buNone/>
            </a:pPr>
            <a:r>
              <a:rPr lang="ko"/>
              <a:t>시각 모델, 음성모델 등의 도구들을 foundation model과 상관없이 독립적으로 발전시켜놓고, 필요할 때마다 갈아 끼울 수 있게 만듭니다.</a:t>
            </a:r>
            <a:endParaRPr/>
          </a:p>
        </p:txBody>
      </p:sp>
      <p:sp>
        <p:nvSpPr>
          <p:cNvPr id="251" name="Google Shape;251;g3b763fde9ee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b763fde9ee_0_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"마지막 T2 패러다임은 이 논문에서 가장 강조하는 혁신적인 방식입니다. 바로 도구가 에이전트를 똑똑하게 모시게 만드는 것'입니다.</a:t>
            </a:r>
            <a:endParaRPr/>
          </a:p>
          <a:p>
            <a:pPr indent="0" lvl="0" marL="0" rtl="0" algn="l">
              <a:spcBef>
                <a:spcPts val="0"/>
              </a:spcBef>
              <a:spcAft>
                <a:spcPts val="0"/>
              </a:spcAft>
              <a:buNone/>
            </a:pPr>
            <a:r>
              <a:rPr lang="ko"/>
              <a:t>수천억 개의 파라미터를 가진 거대 모델을 매번 공부시키는 건 너무 비쌉니다. 대신 그 옆에 똑똑한 비서, 즉 서브에이전트를 붙여서 '주인님이 뭘 필요로 하시는지'를 배우게 하는 거죠. 여기서 부터는 도구도 사실상 서브 에이전트로써 기능하게 됩니다. </a:t>
            </a:r>
            <a:endParaRPr/>
          </a:p>
        </p:txBody>
      </p:sp>
      <p:sp>
        <p:nvSpPr>
          <p:cNvPr id="258" name="Google Shape;258;g3b763fde9ee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ae95a7244_1_5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aae95a7244_1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763fde9ee_0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2023년 발표된 Toolformer입니다. 이 모델은 A1 방식의 시초로, 도구가 답변에 얼마나 실질적인 도움을 주었는지를 **'당혹도(Perplexity)의 감소'**라는 수치로 판단합니다.</a:t>
            </a:r>
            <a:endParaRPr/>
          </a:p>
          <a:p>
            <a:pPr indent="0" lvl="0" marL="0" rtl="0" algn="l">
              <a:spcBef>
                <a:spcPts val="0"/>
              </a:spcBef>
              <a:spcAft>
                <a:spcPts val="0"/>
              </a:spcAft>
              <a:buNone/>
            </a:pPr>
            <a:r>
              <a:rPr lang="ko"/>
              <a:t>왼쪽의 예시와 같이 ~</a:t>
            </a:r>
            <a:endParaRPr/>
          </a:p>
          <a:p>
            <a:pPr indent="0" lvl="0" marL="0" rtl="0" algn="l">
              <a:spcBef>
                <a:spcPts val="0"/>
              </a:spcBef>
              <a:spcAft>
                <a:spcPts val="0"/>
              </a:spcAft>
              <a:buNone/>
            </a:pPr>
            <a:r>
              <a:rPr lang="ko"/>
              <a:t>이 모델은 크로스 엔트로피(Cross-Entropy) 손실 함수를 사용하여 도구의 유용성을 판별합니다.</a:t>
            </a:r>
            <a:endParaRPr/>
          </a:p>
          <a:p>
            <a:pPr indent="0" lvl="0" marL="0" rtl="0" algn="l">
              <a:spcBef>
                <a:spcPts val="0"/>
              </a:spcBef>
              <a:spcAft>
                <a:spcPts val="0"/>
              </a:spcAft>
              <a:buNone/>
            </a:pPr>
            <a:r>
              <a:rPr lang="ko"/>
              <a:t> 언어 모델의 본래 목표인 '다음 단어 예측'의 정확도를 측정하기 위해 이 함수를 사용하며, 도구 결과가 실제 정답 토큰이 나올 확률을 얼마나 높여주는지 수치화.</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도구를 써서 (다음 단어)의 정답을 맞힐 확률(크로스 엔트로피)이 비약적으로 올라가는 경우에만 파라미터를 학습하도록 유도.</a:t>
            </a:r>
            <a:endParaRPr/>
          </a:p>
        </p:txBody>
      </p:sp>
      <p:sp>
        <p:nvSpPr>
          <p:cNvPr id="270" name="Google Shape;270;g3b763fde9e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b763fde9ee_0_8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A1</a:t>
            </a:r>
            <a:r>
              <a:rPr lang="ko"/>
              <a:t>의 하나더 예시는 DeepRetriever입니다. 이 모델은 앞서 보신 Toolformer보다 훨씬 더 명시적이고 강력한 피드백을 사용합니다.</a:t>
            </a:r>
            <a:endParaRPr/>
          </a:p>
          <a:p>
            <a:pPr indent="0" lvl="0" marL="0" rtl="0" algn="l">
              <a:spcBef>
                <a:spcPts val="0"/>
              </a:spcBef>
              <a:spcAft>
                <a:spcPts val="0"/>
              </a:spcAft>
              <a:buNone/>
            </a:pPr>
            <a:r>
              <a:rPr lang="ko"/>
              <a:t>에이전트(LLM)가 검색 쿼리를 생성하면, 검색 도구가 문서를 가져옵니다. 이때 발생하는 Recall@K나 NDCG 같은 실제 검색 지표를 강화학습(RL)의 보상(Reward)으로 삼습니다.,</a:t>
            </a:r>
            <a:endParaRPr/>
          </a:p>
          <a:p>
            <a:pPr indent="0" lvl="0" marL="0" rtl="0" algn="l">
              <a:spcBef>
                <a:spcPts val="0"/>
              </a:spcBef>
              <a:spcAft>
                <a:spcPts val="0"/>
              </a:spcAft>
              <a:buNone/>
            </a:pPr>
            <a:r>
              <a:rPr lang="ko"/>
              <a:t>그래서 강화학습으로 에이전트가, 어떻게 검색해야 결과가 잘 나오는가"를 시행착오를 통해 직접 배우도록 유도합니다.</a:t>
            </a:r>
            <a:endParaRPr sz="1050">
              <a:solidFill>
                <a:srgbClr val="383838"/>
              </a:solidFill>
            </a:endParaRPr>
          </a:p>
        </p:txBody>
      </p:sp>
      <p:sp>
        <p:nvSpPr>
          <p:cNvPr id="277" name="Google Shape;277;g3b763fde9ee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763fde9ee_0_9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"A2 방식의 가장 혁신적인 사례는 최근 전 세계를 놀라게 한 DeepSeek-R1입니다. 이 모델은 누군가 가르쳐준 정답지를 베끼는 대신, 스스로 문제를 풀고 최종 정답이 맞았을 때 보상을 받는 강화학습만으로 공부했습니다. </a:t>
            </a:r>
            <a:endParaRPr/>
          </a:p>
          <a:p>
            <a:pPr indent="0" lvl="0" marL="0" rtl="0" algn="l">
              <a:spcBef>
                <a:spcPts val="0"/>
              </a:spcBef>
              <a:spcAft>
                <a:spcPts val="0"/>
              </a:spcAft>
              <a:buNone/>
            </a:pPr>
            <a:r>
              <a:rPr lang="ko"/>
              <a:t>이 과정에서 아주 흥미로운 현상이 나타났습니다. 에이전트가 문제를 풀다가 '잠깐, 이게 아니지'라며 스스로 생각을 고쳐나가는 '자기 성찰' 행동이 자연스럽게 나타난 것입니다. 도구 없이도 뇌 스스로가 논리적 허점을 찾아내 정답 확률을 높이는, 이른바 '생각하는 지능'의 진화를 보여준 대표적 사례</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Search-R1은 DeepSeek에 '검색 엔진'이라는 도구를 쥐여준 사례.</a:t>
            </a:r>
            <a:endParaRPr/>
          </a:p>
          <a:p>
            <a:pPr indent="0" lvl="0" marL="0" rtl="0" algn="l">
              <a:spcBef>
                <a:spcPts val="0"/>
              </a:spcBef>
              <a:spcAft>
                <a:spcPts val="0"/>
              </a:spcAft>
              <a:buNone/>
            </a:pPr>
            <a:r>
              <a:rPr lang="ko"/>
              <a:t>이 문제는 내 지식만으로 위험하니 검색을 해야겠다' 혹은 '이 검색 결과는 믿을 수 없으니 다시 찾아야겠다'는 식의 고차원적인 판단을 배우게 됩니다. 무조건 검색 결과에 의존하는 것이 아니라, 정답을 맞히기 위한 최적의 검색 시점과 방법을 스스로 터득하여 정확도를 획기적으로 높였습니다."</a:t>
            </a:r>
            <a:endParaRPr/>
          </a:p>
        </p:txBody>
      </p:sp>
      <p:sp>
        <p:nvSpPr>
          <p:cNvPr id="284" name="Google Shape;284;g3b763fde9ee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b763fde9ee_0_10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앞서 설명드린 T</a:t>
            </a:r>
            <a:r>
              <a:rPr lang="ko">
                <a:solidFill>
                  <a:schemeClr val="dk1"/>
                </a:solidFill>
              </a:rPr>
              <a:t>1 패러다임의 </a:t>
            </a:r>
            <a:r>
              <a:rPr lang="ko"/>
              <a:t>핵심은 도구가 특정 에이전트에 맞춰 학습되는 것이 아니라, 스스로의 성능을 극대화하도록 독립적으로 학습되어 어떤 시스템에도 즉시 연결 가능한 '플러그 앤 플레이' 형태를 띤다는 점입니다.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CLIP은 독립적으로 사전에인터넷상의 방대한 이미지와 텍스트 쌍을 통해 스스로 시각적 개념을 학습된 상태의 모델이기 때문에 정된 에이전트는 CLIP을 API로 호출하기만 하면 별도의 추가 훈련 없이도 사진 속 물체를 식별하거나 의미를 파악하는 **'시각 능력'**을 즉시 확보하게 됩니다.</a:t>
            </a:r>
            <a:endParaRPr/>
          </a:p>
          <a:p>
            <a:pPr indent="0" lvl="0" marL="0" rtl="0" algn="l">
              <a:spcBef>
                <a:spcPts val="0"/>
              </a:spcBef>
              <a:spcAft>
                <a:spcPts val="0"/>
              </a:spcAft>
              <a:buNone/>
            </a:pPr>
            <a:r>
              <a:rPr lang="ko"/>
              <a:t>Whisper 도 비슷한 개념입니다. 에이전트는 오디오 데이터를 동결된 상태의 Whisper에 전달하고 텍스트 결과만 받아 처리하면 되며, 이 과정에서 에이전트나 도구 모두 서로를 위해 자신의 파라미터를 수정하지 않습니다.</a:t>
            </a:r>
            <a:endParaRPr/>
          </a:p>
        </p:txBody>
      </p:sp>
      <p:sp>
        <p:nvSpPr>
          <p:cNvPr id="291" name="Google Shape;291;g3b763fde9ee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b763fde9ee_0_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에이전틱 AI 적응의 네 번째 패러다임인 T2는 가장 지능적인 방식의 협업 모델입니다. </a:t>
            </a:r>
            <a:endParaRPr/>
          </a:p>
          <a:p>
            <a:pPr indent="0" lvl="0" marL="0" rtl="0" algn="l">
              <a:spcBef>
                <a:spcPts val="0"/>
              </a:spcBef>
              <a:spcAft>
                <a:spcPts val="0"/>
              </a:spcAft>
              <a:buNone/>
            </a:pPr>
            <a:r>
              <a:rPr lang="ko"/>
              <a:t>AI가 도구를 더 잘 쓰도록 AI를 업데이트 하는 대신에 foundation model은 그대로 두고, 그 주변의 도구들이 주인인 에이전트에 맞게 스스로를 튜닝하게 만드는 것이죠.</a:t>
            </a:r>
            <a:endParaRPr/>
          </a:p>
          <a:p>
            <a:pPr indent="0" lvl="0" marL="0" rtl="0" algn="l">
              <a:spcBef>
                <a:spcPts val="0"/>
              </a:spcBef>
              <a:spcAft>
                <a:spcPts val="0"/>
              </a:spcAft>
              <a:buNone/>
            </a:pPr>
            <a:r>
              <a:rPr lang="ko"/>
              <a:t> 이를 논문에서는 '공생적 역전'*이라고 부릅니다.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s3 는 검색 에이전트를 학습시킬 때, 메인 생성 모델은 건드리지 않고 오직 검색기 서브모델만 강화학습시킵니다.</a:t>
            </a:r>
            <a:endParaRPr/>
          </a:p>
          <a:p>
            <a:pPr indent="0" lvl="0" marL="0" rtl="0" algn="l">
              <a:spcBef>
                <a:spcPts val="0"/>
              </a:spcBef>
              <a:spcAft>
                <a:spcPts val="0"/>
              </a:spcAft>
              <a:buClr>
                <a:schemeClr val="dk1"/>
              </a:buClr>
              <a:buSzPts val="1100"/>
              <a:buFont typeface="Arial"/>
              <a:buNone/>
            </a:pPr>
            <a:r>
              <a:rPr lang="ko">
                <a:solidFill>
                  <a:schemeClr val="dk1"/>
                </a:solidFill>
              </a:rPr>
              <a:t>검색 에이전트가 찾은 문서(Ds3)를 썼을 때의 정확도와, 단순히 질문 키워드로 검색한 기본 문서(RAG)를 썼을 때의 정확도를 GBR을 이용해 비교한 이후, 검색 에이전트(Search Agent)에게만 전달되어 검색 전략(쿼리 생성, 문서 선택 능력)을 업데이트합니다.</a:t>
            </a:r>
            <a:endParaRPr>
              <a:solidFill>
                <a:schemeClr val="dk1"/>
              </a:solidFill>
            </a:endParaRPr>
          </a:p>
          <a:p>
            <a:pPr indent="0" lvl="0" marL="0" rtl="0" algn="l">
              <a:spcBef>
                <a:spcPts val="0"/>
              </a:spcBef>
              <a:spcAft>
                <a:spcPts val="0"/>
              </a:spcAft>
              <a:buNone/>
            </a:pPr>
            <a:r>
              <a:t/>
            </a:r>
            <a:endParaRPr/>
          </a:p>
        </p:txBody>
      </p:sp>
      <p:sp>
        <p:nvSpPr>
          <p:cNvPr id="297" name="Google Shape;297;g3b763fde9ee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b763fde9ee_0_11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T2 </a:t>
            </a:r>
            <a:r>
              <a:rPr lang="ko"/>
              <a:t>패러다임의 두 번째 사례인 Reflexion은 메모리를 하나의 적응형 도구로 활용하는 T2 방식입니다.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Reflexion 시스템의 에이전트는 실수를 했을 때 모델이 파라미터를 업데이트 하는 대신 무엇이 잘못됐는지 분석한 자연어 오답노트를 작성합니다. 즉, 수학적 수치가 아닌 자연어로 된 피드백을 메모리라는 도구에 기록해 두는 것이죠. 다음 시도에서 에이전트는 이 메모리 도구를 참고해 똑똑하게 행동을 수정합니다. 에이전트 모델의 가중치는 전혀 변하지 않지만, '메모리'라는 도구가 에이전트의 경험을 바탕으로 계속 최적화하는 것입니다.</a:t>
            </a:r>
            <a:endParaRPr/>
          </a:p>
        </p:txBody>
      </p:sp>
      <p:sp>
        <p:nvSpPr>
          <p:cNvPr id="304" name="Google Shape;304;g3b763fde9ee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b763fde9ee_0_2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3b763fde9ee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aae95a7244_1_8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먼저 비용과 유연성 측면에서 ~</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데이터 효율성 측면~</a:t>
            </a:r>
            <a:endParaRPr/>
          </a:p>
        </p:txBody>
      </p:sp>
      <p:sp>
        <p:nvSpPr>
          <p:cNvPr id="317" name="Google Shape;317;g3aae95a7244_1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aae95a7244_1_9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일반화 측면에서~</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모듈성 ~</a:t>
            </a:r>
            <a:endParaRPr/>
          </a:p>
        </p:txBody>
      </p:sp>
      <p:sp>
        <p:nvSpPr>
          <p:cNvPr id="323" name="Google Shape;323;g3aae95a7244_1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b763fde9ee_0_12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그러면 이 논문에서 제시하는 이상적인 패러다임은 무엇이냐고 하면 A와 T가 조합된 하이브리드 형태입니다. </a:t>
            </a:r>
            <a:endParaRPr/>
          </a:p>
        </p:txBody>
      </p:sp>
      <p:sp>
        <p:nvSpPr>
          <p:cNvPr id="329" name="Google Shape;329;g3b763fde9ee_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b763fde9ee_0_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b763fde9ee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ae95a7244_1_9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에이전틱 AI의 적응 전략은 이론에 그치지 않고 실제 다양한 산업 분야에 영향을 끼치고 있습니다. 이 논문은 특히 네 가지 핵심 응용 분야에 주목합니다. </a:t>
            </a:r>
            <a:endParaRPr/>
          </a:p>
          <a:p>
            <a:pPr indent="0" lvl="0" marL="0" rtl="0" algn="l">
              <a:spcBef>
                <a:spcPts val="0"/>
              </a:spcBef>
              <a:spcAft>
                <a:spcPts val="0"/>
              </a:spcAft>
              <a:buNone/>
            </a:pPr>
            <a:r>
              <a:rPr lang="ko"/>
              <a:t>과학적 조사를 수행하는 딥 리서치, 코드를 짜고 디버깅하는 소프트웨어 개발, 인간처럼 화면을 보고 컴퓨터를 쓰는 컴퓨터 사용, 그리고 생명을 구하는 약물 발견 분야입니다.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딥 리서치입니다. 단순히 정보를 검색하는 것을 넘어 전문적인 과학 조사를 자동화하는 것입니다. 에이전트는 복잡한 가설을 세우고 이를 검증하기 위한 정교한 연구 계획을 수립하도록 적응됩니다. 동시에 도구 측면에서는 PubMed나 arXiv 같은 방대한 논문 데이터베이스에서 정답에 가까운 근거를 정확히 찾아내도록 최적화된 검색 도구들을 사용</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코드 분야는 넘어가고…</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컴퓨터 사용이 개인적으로 제일 흥미로웠던 분야인데요. 기존에는 API가 연동된 서비스만 AI가 다룰 수 있었다면, 이제는 사람처럼 화면을 보고 마우스를 클릭하며 컴퓨터를 씁니다.</a:t>
            </a:r>
            <a:endParaRPr/>
          </a:p>
          <a:p>
            <a:pPr indent="0" lvl="0" marL="0" rtl="0" algn="l">
              <a:spcBef>
                <a:spcPts val="0"/>
              </a:spcBef>
              <a:spcAft>
                <a:spcPts val="0"/>
              </a:spcAft>
              <a:buNone/>
            </a:pPr>
            <a:r>
              <a:rPr lang="ko"/>
              <a:t>OpenCUA 같은 프로젝트는 수많은 화면 스크린샷을 학습시켜 AI가 '어디를 눌러야 할지'를 가르칩니다. 또한 ACE 같은 기술을 통해 복잡한 화면 정보를 에이전트가 이해하기 쉬운 핵심 정보로 요약해 전달함으로써, 실행 속도는 높이고 실수는 줄이는 적응 과정을 거치고 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생물분야에 적용되는 것도 흥미롭습니다. 화합물의 물리적 성질을 예측하는 도구들을 강화학습의 보상으로 연결하여, AI가 실제로 약이 될 가능성이 높은 분자 구조를 스스로 설계하게 만듭니다.</a:t>
            </a:r>
            <a:endParaRPr/>
          </a:p>
        </p:txBody>
      </p:sp>
      <p:sp>
        <p:nvSpPr>
          <p:cNvPr id="340" name="Google Shape;340;g3aae95a7244_1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ae95a7244_1_10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이 논문에서는 에이전트와 도구가 함께 진화해야 할 미래의 로드맵과 그 과정에서 마주할 4가지 핵심 과제에 대해서도 제시합니다.</a:t>
            </a:r>
            <a:endParaRPr/>
          </a:p>
          <a:p>
            <a:pPr indent="0" lvl="0" marL="0" rtl="0" algn="l">
              <a:spcBef>
                <a:spcPts val="0"/>
              </a:spcBef>
              <a:spcAft>
                <a:spcPts val="0"/>
              </a:spcAft>
              <a:buNone/>
            </a:pPr>
            <a:r>
              <a:rPr lang="ko"/>
              <a:t>먼저, 지금까지는 에이전트나 도구 중 하나를 고정하고 나머지를 가르쳤지만, 미래에는 둘을 동시에 학습시켜야 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두 번째는 '지속적 적응'입니다. 실제 환경은 고정되어 있지 않고 작업과 도구가 계속 변합니다. 이때 가장 큰 적은 새로운 것을 배우면 예전 것을 까먹는 '파괴적 망각'입니다. 모델 핵심 부분은 보호하면서 기술만 익히는 방식(PEFT)이나, 지능은 그대로 두되 '오답 노트'나 '업무 매뉴얼'에 해당하는 외부 메모리만 계속 업데이트하는 방식(agentic memory)이 연구되고 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에이전트가 자율적으로 학습하기 시작하면 예상치 못한 위험이 발생합니다. 예를 들어, 업무 효율을 높이려다 컴퓨터 용량을 확보하겠다며 중요한 시스템 파일을 지워버리는 '위험한 탐색'이 일어날 수 있습니다. 또한, AI가 문제를 푸는 대신 채점 시스템 자체를 해킹해버리는 '사양 게임' 리스크도 존재합니다. 이를 막기 위해 실행 전 안전 관문을 설치하고, 주관적인 점수가 아닌 기계적으로 검증 </a:t>
            </a:r>
            <a:endParaRPr/>
          </a:p>
          <a:p>
            <a:pPr indent="0" lvl="0" marL="0" rtl="0" algn="l">
              <a:spcBef>
                <a:spcPts val="0"/>
              </a:spcBef>
              <a:spcAft>
                <a:spcPts val="0"/>
              </a:spcAft>
              <a:buNone/>
            </a:pPr>
            <a:r>
              <a:rPr lang="ko"/>
              <a:t>가능한 보상 체계를 구축해야 합니다</a:t>
            </a:r>
            <a:endParaRPr/>
          </a:p>
        </p:txBody>
      </p:sp>
      <p:sp>
        <p:nvSpPr>
          <p:cNvPr id="346" name="Google Shape;346;g3aae95a7244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ae95a7244_1_1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결론입니다. 미래의 지능형 시스템은 거대한 단일 모델이 아니라, 모델과 여러 툴이 연합된 모습일 것이라고 합니다. </a:t>
            </a:r>
            <a:endParaRPr/>
          </a:p>
          <a:p>
            <a:pPr indent="0" lvl="0" marL="0" rtl="0" algn="l">
              <a:spcBef>
                <a:spcPts val="0"/>
              </a:spcBef>
              <a:spcAft>
                <a:spcPts val="0"/>
              </a:spcAft>
              <a:buNone/>
            </a:pPr>
            <a:r>
              <a:rPr lang="ko"/>
              <a:t>평소에는 저렴하고 유연한 도구 적응(T1/T2)을 통해 실무 능력을 키우고, 결정적인 순간에 에이전트의 뇌(A1/A2)를 업데이트하여 지능의 도약을 이뤄내는 하이브리드 전략이 핵심이 될 것입니다.</a:t>
            </a:r>
            <a:endParaRPr/>
          </a:p>
        </p:txBody>
      </p:sp>
      <p:sp>
        <p:nvSpPr>
          <p:cNvPr id="352" name="Google Shape;352;g3aae95a7244_1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b763fde9ee_0_3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3b763fde9ee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노란상단선 내지">
  <p:cSld name="노란상단선 내지">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b="0" l="0" r="0" t="0"/>
          <a:stretch/>
        </p:blipFill>
        <p:spPr>
          <a:xfrm>
            <a:off x="361756" y="4489420"/>
            <a:ext cx="972847" cy="295711"/>
          </a:xfrm>
          <a:prstGeom prst="rect">
            <a:avLst/>
          </a:prstGeom>
          <a:noFill/>
          <a:ln>
            <a:noFill/>
          </a:ln>
        </p:spPr>
      </p:pic>
      <p:cxnSp>
        <p:nvCxnSpPr>
          <p:cNvPr id="52" name="Google Shape;52;p13"/>
          <p:cNvCxnSpPr/>
          <p:nvPr/>
        </p:nvCxnSpPr>
        <p:spPr>
          <a:xfrm>
            <a:off x="386923" y="679508"/>
            <a:ext cx="8262000" cy="0"/>
          </a:xfrm>
          <a:prstGeom prst="straightConnector1">
            <a:avLst/>
          </a:prstGeom>
          <a:noFill/>
          <a:ln cap="flat" cmpd="sng" w="25400">
            <a:solidFill>
              <a:srgbClr val="FCBC36"/>
            </a:solidFill>
            <a:prstDash val="solid"/>
            <a:miter lim="800000"/>
            <a:headEnd len="sm" w="sm" type="none"/>
            <a:tailEnd len="sm" w="sm" type="none"/>
          </a:ln>
        </p:spPr>
      </p:cxnSp>
      <p:sp>
        <p:nvSpPr>
          <p:cNvPr id="53" name="Google Shape;53;p13"/>
          <p:cNvSpPr txBox="1"/>
          <p:nvPr/>
        </p:nvSpPr>
        <p:spPr>
          <a:xfrm>
            <a:off x="448032" y="705357"/>
            <a:ext cx="8193600" cy="4017300"/>
          </a:xfrm>
          <a:prstGeom prst="rect">
            <a:avLst/>
          </a:prstGeom>
          <a:noFill/>
          <a:ln>
            <a:noFill/>
          </a:ln>
        </p:spPr>
        <p:txBody>
          <a:bodyPr anchorCtr="0" anchor="t" bIns="45700" lIns="36000" spcFirstLastPara="1" rIns="91425" wrap="square" tIns="7200">
            <a:noAutofit/>
          </a:bodyPr>
          <a:lstStyle/>
          <a:p>
            <a:pPr indent="0" lvl="0" marL="0" marR="0" rtl="0" algn="l">
              <a:lnSpc>
                <a:spcPct val="150000"/>
              </a:lnSpc>
              <a:spcBef>
                <a:spcPts val="0"/>
              </a:spcBef>
              <a:spcAft>
                <a:spcPts val="0"/>
              </a:spcAft>
              <a:buClr>
                <a:schemeClr val="dk1"/>
              </a:buClr>
              <a:buSzPts val="1500"/>
              <a:buFont typeface="Arial"/>
              <a:buNone/>
            </a:pPr>
            <a:r>
              <a:t/>
            </a:r>
            <a:endParaRPr b="0" i="0" sz="1500">
              <a:solidFill>
                <a:schemeClr val="dk1"/>
              </a:solidFill>
              <a:latin typeface="Arial"/>
              <a:ea typeface="Arial"/>
              <a:cs typeface="Arial"/>
              <a:sym typeface="Arial"/>
            </a:endParaRPr>
          </a:p>
        </p:txBody>
      </p:sp>
      <p:sp>
        <p:nvSpPr>
          <p:cNvPr id="54" name="Google Shape;54;p13"/>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400"/>
              <a:buFont typeface="Arial"/>
              <a:buNone/>
              <a:defRPr b="0" i="0" sz="3400" u="none" cap="none" strike="noStrike">
                <a:solidFill>
                  <a:schemeClr val="dk1"/>
                </a:solidFill>
                <a:latin typeface="Arial"/>
                <a:ea typeface="Arial"/>
                <a:cs typeface="Arial"/>
                <a:sym typeface="Arial"/>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p:txBody>
      </p:sp>
      <p:sp>
        <p:nvSpPr>
          <p:cNvPr id="55" name="Google Shape;55;p13"/>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indent="-361950" lvl="1" marL="914400" marR="0" rtl="0" algn="l">
              <a:lnSpc>
                <a:spcPct val="90000"/>
              </a:lnSpc>
              <a:spcBef>
                <a:spcPts val="12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키카오 간지">
  <p:cSld name="키카오 간지">
    <p:spTree>
      <p:nvGrpSpPr>
        <p:cNvPr id="56" name="Shape 56"/>
        <p:cNvGrpSpPr/>
        <p:nvPr/>
      </p:nvGrpSpPr>
      <p:grpSpPr>
        <a:xfrm>
          <a:off x="0" y="0"/>
          <a:ext cx="0" cy="0"/>
          <a:chOff x="0" y="0"/>
          <a:chExt cx="0" cy="0"/>
        </a:xfrm>
      </p:grpSpPr>
      <p:sp>
        <p:nvSpPr>
          <p:cNvPr id="57" name="Google Shape;57;p14"/>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1">
  <p:cSld name="제목 슬라이드">
    <p:spTree>
      <p:nvGrpSpPr>
        <p:cNvPr id="58" name="Shape 5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키카오 간지">
  <p:cSld name="키카오 간지">
    <p:spTree>
      <p:nvGrpSpPr>
        <p:cNvPr id="61" name="Shape 61"/>
        <p:cNvGrpSpPr/>
        <p:nvPr/>
      </p:nvGrpSpPr>
      <p:grpSpPr>
        <a:xfrm>
          <a:off x="0" y="0"/>
          <a:ext cx="0" cy="0"/>
          <a:chOff x="0" y="0"/>
          <a:chExt cx="0" cy="0"/>
        </a:xfrm>
      </p:grpSpPr>
      <p:sp>
        <p:nvSpPr>
          <p:cNvPr id="62" name="Google Shape;62;p17"/>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lvl1pPr lvl="0" marR="0" rtl="0" algn="ctr">
              <a:lnSpc>
                <a:spcPct val="90000"/>
              </a:lnSpc>
              <a:spcBef>
                <a:spcPts val="0"/>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63" name="Shape 63"/>
        <p:cNvGrpSpPr/>
        <p:nvPr/>
      </p:nvGrpSpPr>
      <p:grpSpPr>
        <a:xfrm>
          <a:off x="0" y="0"/>
          <a:ext cx="0" cy="0"/>
          <a:chOff x="0" y="0"/>
          <a:chExt cx="0" cy="0"/>
        </a:xfrm>
      </p:grpSpPr>
      <p:sp>
        <p:nvSpPr>
          <p:cNvPr id="64" name="Google Shape;64;p18"/>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65" name="Google Shape;65;p18"/>
          <p:cNvSpPr txBox="1"/>
          <p:nvPr>
            <p:ph idx="1" type="body"/>
          </p:nvPr>
        </p:nvSpPr>
        <p:spPr>
          <a:xfrm>
            <a:off x="628650" y="1370013"/>
            <a:ext cx="7886700" cy="3262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66" name="Google Shape;66;p18"/>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67" name="Google Shape;67;p18"/>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68" name="Google Shape;68;p18"/>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69" name="Shape 69"/>
        <p:cNvGrpSpPr/>
        <p:nvPr/>
      </p:nvGrpSpPr>
      <p:grpSpPr>
        <a:xfrm>
          <a:off x="0" y="0"/>
          <a:ext cx="0" cy="0"/>
          <a:chOff x="0" y="0"/>
          <a:chExt cx="0" cy="0"/>
        </a:xfrm>
      </p:grpSpPr>
      <p:sp>
        <p:nvSpPr>
          <p:cNvPr id="70" name="Google Shape;70;p19"/>
          <p:cNvSpPr txBox="1"/>
          <p:nvPr>
            <p:ph type="title"/>
          </p:nvPr>
        </p:nvSpPr>
        <p:spPr>
          <a:xfrm>
            <a:off x="623888" y="1282700"/>
            <a:ext cx="7886700" cy="21399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Malgun Gothic"/>
              <a:buNone/>
              <a:defRPr b="0" i="0" sz="60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1" name="Google Shape;71;p19"/>
          <p:cNvSpPr txBox="1"/>
          <p:nvPr>
            <p:ph idx="1" type="body"/>
          </p:nvPr>
        </p:nvSpPr>
        <p:spPr>
          <a:xfrm>
            <a:off x="623888" y="3441700"/>
            <a:ext cx="7886700" cy="1125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9pPr>
          </a:lstStyle>
          <a:p/>
        </p:txBody>
      </p:sp>
      <p:sp>
        <p:nvSpPr>
          <p:cNvPr id="72" name="Google Shape;72;p19"/>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73" name="Google Shape;73;p19"/>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74" name="Google Shape;74;p19"/>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내용 2개" type="twoObj">
  <p:cSld name="TWO_OBJECTS">
    <p:spTree>
      <p:nvGrpSpPr>
        <p:cNvPr id="75" name="Shape 75"/>
        <p:cNvGrpSpPr/>
        <p:nvPr/>
      </p:nvGrpSpPr>
      <p:grpSpPr>
        <a:xfrm>
          <a:off x="0" y="0"/>
          <a:ext cx="0" cy="0"/>
          <a:chOff x="0" y="0"/>
          <a:chExt cx="0" cy="0"/>
        </a:xfrm>
      </p:grpSpPr>
      <p:sp>
        <p:nvSpPr>
          <p:cNvPr id="76" name="Google Shape;76;p20"/>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7" name="Google Shape;77;p20"/>
          <p:cNvSpPr txBox="1"/>
          <p:nvPr>
            <p:ph idx="1" type="body"/>
          </p:nvPr>
        </p:nvSpPr>
        <p:spPr>
          <a:xfrm>
            <a:off x="628650" y="1370013"/>
            <a:ext cx="3867000" cy="3262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78" name="Google Shape;78;p20"/>
          <p:cNvSpPr txBox="1"/>
          <p:nvPr>
            <p:ph idx="2" type="body"/>
          </p:nvPr>
        </p:nvSpPr>
        <p:spPr>
          <a:xfrm>
            <a:off x="4648200" y="1370013"/>
            <a:ext cx="3867000" cy="3262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79" name="Google Shape;79;p20"/>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0" name="Google Shape;80;p20"/>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1" name="Google Shape;81;p20"/>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82" name="Shape 82"/>
        <p:cNvGrpSpPr/>
        <p:nvPr/>
      </p:nvGrpSpPr>
      <p:grpSpPr>
        <a:xfrm>
          <a:off x="0" y="0"/>
          <a:ext cx="0" cy="0"/>
          <a:chOff x="0" y="0"/>
          <a:chExt cx="0" cy="0"/>
        </a:xfrm>
      </p:grpSpPr>
      <p:sp>
        <p:nvSpPr>
          <p:cNvPr id="83" name="Google Shape;83;p21"/>
          <p:cNvSpPr txBox="1"/>
          <p:nvPr>
            <p:ph type="title"/>
          </p:nvPr>
        </p:nvSpPr>
        <p:spPr>
          <a:xfrm>
            <a:off x="630238"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84" name="Google Shape;84;p21"/>
          <p:cNvSpPr txBox="1"/>
          <p:nvPr>
            <p:ph idx="1" type="body"/>
          </p:nvPr>
        </p:nvSpPr>
        <p:spPr>
          <a:xfrm>
            <a:off x="630238" y="1260475"/>
            <a:ext cx="3868800" cy="6192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9pPr>
          </a:lstStyle>
          <a:p/>
        </p:txBody>
      </p:sp>
      <p:sp>
        <p:nvSpPr>
          <p:cNvPr id="85" name="Google Shape;85;p21"/>
          <p:cNvSpPr txBox="1"/>
          <p:nvPr>
            <p:ph idx="2" type="body"/>
          </p:nvPr>
        </p:nvSpPr>
        <p:spPr>
          <a:xfrm>
            <a:off x="630238" y="1879600"/>
            <a:ext cx="3868800" cy="27624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86" name="Google Shape;86;p21"/>
          <p:cNvSpPr txBox="1"/>
          <p:nvPr>
            <p:ph idx="3" type="body"/>
          </p:nvPr>
        </p:nvSpPr>
        <p:spPr>
          <a:xfrm>
            <a:off x="4629150" y="1260475"/>
            <a:ext cx="3887700" cy="6192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9pPr>
          </a:lstStyle>
          <a:p/>
        </p:txBody>
      </p:sp>
      <p:sp>
        <p:nvSpPr>
          <p:cNvPr id="87" name="Google Shape;87;p21"/>
          <p:cNvSpPr txBox="1"/>
          <p:nvPr>
            <p:ph idx="4" type="body"/>
          </p:nvPr>
        </p:nvSpPr>
        <p:spPr>
          <a:xfrm>
            <a:off x="4629150" y="1879600"/>
            <a:ext cx="3887700" cy="27624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88" name="Google Shape;88;p21"/>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9" name="Google Shape;89;p21"/>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0" name="Google Shape;90;p21"/>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91" name="Shape 91"/>
        <p:cNvGrpSpPr/>
        <p:nvPr/>
      </p:nvGrpSpPr>
      <p:grpSpPr>
        <a:xfrm>
          <a:off x="0" y="0"/>
          <a:ext cx="0" cy="0"/>
          <a:chOff x="0" y="0"/>
          <a:chExt cx="0" cy="0"/>
        </a:xfrm>
      </p:grpSpPr>
      <p:sp>
        <p:nvSpPr>
          <p:cNvPr id="92" name="Google Shape;92;p22"/>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3" name="Google Shape;93;p22"/>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4" name="Google Shape;94;p22"/>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5" name="Google Shape;95;p22"/>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96" name="Shape 96"/>
        <p:cNvGrpSpPr/>
        <p:nvPr/>
      </p:nvGrpSpPr>
      <p:grpSpPr>
        <a:xfrm>
          <a:off x="0" y="0"/>
          <a:ext cx="0" cy="0"/>
          <a:chOff x="0" y="0"/>
          <a:chExt cx="0" cy="0"/>
        </a:xfrm>
      </p:grpSpPr>
      <p:sp>
        <p:nvSpPr>
          <p:cNvPr id="97" name="Google Shape;97;p23"/>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8" name="Google Shape;98;p23"/>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9" name="Google Shape;99;p23"/>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100" name="Shape 100"/>
        <p:cNvGrpSpPr/>
        <p:nvPr/>
      </p:nvGrpSpPr>
      <p:grpSpPr>
        <a:xfrm>
          <a:off x="0" y="0"/>
          <a:ext cx="0" cy="0"/>
          <a:chOff x="0" y="0"/>
          <a:chExt cx="0" cy="0"/>
        </a:xfrm>
      </p:grpSpPr>
      <p:sp>
        <p:nvSpPr>
          <p:cNvPr id="101" name="Google Shape;101;p24"/>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Malgun Gothic"/>
              <a:buNone/>
              <a:defRPr b="0" i="0" sz="32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 name="Google Shape;102;p24"/>
          <p:cNvSpPr txBox="1"/>
          <p:nvPr>
            <p:ph idx="1" type="body"/>
          </p:nvPr>
        </p:nvSpPr>
        <p:spPr>
          <a:xfrm>
            <a:off x="3887788" y="741363"/>
            <a:ext cx="4629300" cy="36543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Malgun Gothic"/>
                <a:ea typeface="Malgun Gothic"/>
                <a:cs typeface="Malgun Gothic"/>
                <a:sym typeface="Malgun Gothic"/>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9pPr>
          </a:lstStyle>
          <a:p/>
        </p:txBody>
      </p:sp>
      <p:sp>
        <p:nvSpPr>
          <p:cNvPr id="103" name="Google Shape;103;p24"/>
          <p:cNvSpPr txBox="1"/>
          <p:nvPr>
            <p:ph idx="2" type="body"/>
          </p:nvPr>
        </p:nvSpPr>
        <p:spPr>
          <a:xfrm>
            <a:off x="630238" y="1543050"/>
            <a:ext cx="2949600" cy="2859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9pPr>
          </a:lstStyle>
          <a:p/>
        </p:txBody>
      </p:sp>
      <p:sp>
        <p:nvSpPr>
          <p:cNvPr id="104" name="Google Shape;104;p24"/>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05" name="Google Shape;105;p24"/>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06" name="Google Shape;106;p24"/>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107" name="Shape 107"/>
        <p:cNvGrpSpPr/>
        <p:nvPr/>
      </p:nvGrpSpPr>
      <p:grpSpPr>
        <a:xfrm>
          <a:off x="0" y="0"/>
          <a:ext cx="0" cy="0"/>
          <a:chOff x="0" y="0"/>
          <a:chExt cx="0" cy="0"/>
        </a:xfrm>
      </p:grpSpPr>
      <p:sp>
        <p:nvSpPr>
          <p:cNvPr id="108" name="Google Shape;108;p25"/>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Malgun Gothic"/>
              <a:buNone/>
              <a:defRPr b="0" i="0" sz="32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9" name="Google Shape;109;p25"/>
          <p:cNvSpPr/>
          <p:nvPr>
            <p:ph idx="2" type="pic"/>
          </p:nvPr>
        </p:nvSpPr>
        <p:spPr>
          <a:xfrm>
            <a:off x="3887788" y="741363"/>
            <a:ext cx="4629300" cy="36543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Malgun Gothic"/>
                <a:ea typeface="Malgun Gothic"/>
                <a:cs typeface="Malgun Gothic"/>
                <a:sym typeface="Malgun Gothic"/>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Malgun Gothic"/>
                <a:ea typeface="Malgun Gothic"/>
                <a:cs typeface="Malgun Gothic"/>
                <a:sym typeface="Malgun Gothic"/>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Malgun Gothic"/>
                <a:ea typeface="Malgun Gothic"/>
                <a:cs typeface="Malgun Gothic"/>
                <a:sym typeface="Malgun Gothic"/>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9pPr>
          </a:lstStyle>
          <a:p/>
        </p:txBody>
      </p:sp>
      <p:sp>
        <p:nvSpPr>
          <p:cNvPr id="110" name="Google Shape;110;p25"/>
          <p:cNvSpPr txBox="1"/>
          <p:nvPr>
            <p:ph idx="1" type="body"/>
          </p:nvPr>
        </p:nvSpPr>
        <p:spPr>
          <a:xfrm>
            <a:off x="630238" y="1543050"/>
            <a:ext cx="2949600" cy="2859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9pPr>
          </a:lstStyle>
          <a:p/>
        </p:txBody>
      </p:sp>
      <p:sp>
        <p:nvSpPr>
          <p:cNvPr id="111" name="Google Shape;111;p25"/>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2" name="Google Shape;112;p25"/>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3" name="Google Shape;113;p25"/>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114" name="Shape 114"/>
        <p:cNvGrpSpPr/>
        <p:nvPr/>
      </p:nvGrpSpPr>
      <p:grpSpPr>
        <a:xfrm>
          <a:off x="0" y="0"/>
          <a:ext cx="0" cy="0"/>
          <a:chOff x="0" y="0"/>
          <a:chExt cx="0" cy="0"/>
        </a:xfrm>
      </p:grpSpPr>
      <p:sp>
        <p:nvSpPr>
          <p:cNvPr id="115" name="Google Shape;115;p26"/>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6" name="Google Shape;116;p26"/>
          <p:cNvSpPr txBox="1"/>
          <p:nvPr>
            <p:ph idx="1" type="body"/>
          </p:nvPr>
        </p:nvSpPr>
        <p:spPr>
          <a:xfrm rot="5400000">
            <a:off x="2940900" y="-942237"/>
            <a:ext cx="3262200" cy="7886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17" name="Google Shape;117;p26"/>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8" name="Google Shape;118;p26"/>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9" name="Google Shape;119;p26"/>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120" name="Shape 120"/>
        <p:cNvGrpSpPr/>
        <p:nvPr/>
      </p:nvGrpSpPr>
      <p:grpSpPr>
        <a:xfrm>
          <a:off x="0" y="0"/>
          <a:ext cx="0" cy="0"/>
          <a:chOff x="0" y="0"/>
          <a:chExt cx="0" cy="0"/>
        </a:xfrm>
      </p:grpSpPr>
      <p:sp>
        <p:nvSpPr>
          <p:cNvPr id="121" name="Google Shape;121;p27"/>
          <p:cNvSpPr txBox="1"/>
          <p:nvPr>
            <p:ph type="title"/>
          </p:nvPr>
        </p:nvSpPr>
        <p:spPr>
          <a:xfrm rot="5400000">
            <a:off x="5350650" y="1467738"/>
            <a:ext cx="4357800" cy="1971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22" name="Google Shape;122;p27"/>
          <p:cNvSpPr txBox="1"/>
          <p:nvPr>
            <p:ph idx="1" type="body"/>
          </p:nvPr>
        </p:nvSpPr>
        <p:spPr>
          <a:xfrm rot="5400000">
            <a:off x="1331025" y="-427812"/>
            <a:ext cx="4357800" cy="5762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3" name="Google Shape;123;p27"/>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24" name="Google Shape;124;p27"/>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25" name="Google Shape;125;p27"/>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129" name="Shape 129"/>
        <p:cNvGrpSpPr/>
        <p:nvPr/>
      </p:nvGrpSpPr>
      <p:grpSpPr>
        <a:xfrm>
          <a:off x="0" y="0"/>
          <a:ext cx="0" cy="0"/>
          <a:chOff x="0" y="0"/>
          <a:chExt cx="0" cy="0"/>
        </a:xfrm>
      </p:grpSpPr>
      <p:sp>
        <p:nvSpPr>
          <p:cNvPr id="130" name="Google Shape;130;p29"/>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1" name="Google Shape;131;p29"/>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9"/>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노란상단선 내지">
  <p:cSld name="노란상단선 내지">
    <p:spTree>
      <p:nvGrpSpPr>
        <p:cNvPr id="133" name="Shape 133"/>
        <p:cNvGrpSpPr/>
        <p:nvPr/>
      </p:nvGrpSpPr>
      <p:grpSpPr>
        <a:xfrm>
          <a:off x="0" y="0"/>
          <a:ext cx="0" cy="0"/>
          <a:chOff x="0" y="0"/>
          <a:chExt cx="0" cy="0"/>
        </a:xfrm>
      </p:grpSpPr>
      <p:pic>
        <p:nvPicPr>
          <p:cNvPr id="134" name="Google Shape;134;p30"/>
          <p:cNvPicPr preferRelativeResize="0"/>
          <p:nvPr/>
        </p:nvPicPr>
        <p:blipFill rotWithShape="1">
          <a:blip r:embed="rId2">
            <a:alphaModFix/>
          </a:blip>
          <a:srcRect b="0" l="0" r="0" t="0"/>
          <a:stretch/>
        </p:blipFill>
        <p:spPr>
          <a:xfrm>
            <a:off x="361756" y="4489420"/>
            <a:ext cx="972847" cy="295711"/>
          </a:xfrm>
          <a:prstGeom prst="rect">
            <a:avLst/>
          </a:prstGeom>
          <a:noFill/>
          <a:ln>
            <a:noFill/>
          </a:ln>
        </p:spPr>
      </p:pic>
      <p:cxnSp>
        <p:nvCxnSpPr>
          <p:cNvPr id="135" name="Google Shape;135;p30"/>
          <p:cNvCxnSpPr/>
          <p:nvPr/>
        </p:nvCxnSpPr>
        <p:spPr>
          <a:xfrm>
            <a:off x="386923" y="679508"/>
            <a:ext cx="8262000" cy="0"/>
          </a:xfrm>
          <a:prstGeom prst="straightConnector1">
            <a:avLst/>
          </a:prstGeom>
          <a:noFill/>
          <a:ln cap="flat" cmpd="sng" w="25400">
            <a:solidFill>
              <a:srgbClr val="FCBC36"/>
            </a:solidFill>
            <a:prstDash val="solid"/>
            <a:miter lim="800000"/>
            <a:headEnd len="sm" w="sm" type="none"/>
            <a:tailEnd len="sm" w="sm" type="none"/>
          </a:ln>
        </p:spPr>
      </p:cxnSp>
      <p:sp>
        <p:nvSpPr>
          <p:cNvPr id="136" name="Google Shape;136;p30"/>
          <p:cNvSpPr txBox="1"/>
          <p:nvPr/>
        </p:nvSpPr>
        <p:spPr>
          <a:xfrm>
            <a:off x="448032" y="705357"/>
            <a:ext cx="8193600" cy="4017300"/>
          </a:xfrm>
          <a:prstGeom prst="rect">
            <a:avLst/>
          </a:prstGeom>
          <a:noFill/>
          <a:ln>
            <a:noFill/>
          </a:ln>
        </p:spPr>
        <p:txBody>
          <a:bodyPr anchorCtr="0" anchor="t" bIns="45700" lIns="36000" spcFirstLastPara="1" rIns="91425" wrap="square" tIns="7200">
            <a:noAutofit/>
          </a:bodyPr>
          <a:lstStyle/>
          <a:p>
            <a:pPr indent="0" lvl="0" marL="0" marR="0" rtl="0" algn="l">
              <a:lnSpc>
                <a:spcPct val="150000"/>
              </a:lnSpc>
              <a:spcBef>
                <a:spcPts val="0"/>
              </a:spcBef>
              <a:spcAft>
                <a:spcPts val="0"/>
              </a:spcAft>
              <a:buClr>
                <a:schemeClr val="dk1"/>
              </a:buClr>
              <a:buSzPts val="1500"/>
              <a:buFont typeface="Arial"/>
              <a:buNone/>
            </a:pPr>
            <a:r>
              <a:t/>
            </a:r>
            <a:endParaRPr b="0" i="0" sz="1500">
              <a:solidFill>
                <a:schemeClr val="dk1"/>
              </a:solidFill>
              <a:latin typeface="Arial"/>
              <a:ea typeface="Arial"/>
              <a:cs typeface="Arial"/>
              <a:sym typeface="Arial"/>
            </a:endParaRPr>
          </a:p>
        </p:txBody>
      </p:sp>
      <p:sp>
        <p:nvSpPr>
          <p:cNvPr id="137" name="Google Shape;137;p30"/>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400"/>
              <a:buFont typeface="Arial"/>
              <a:buNone/>
              <a:defRPr b="0" i="0" sz="34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38" name="Google Shape;138;p30"/>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indent="-361950" lvl="1" marL="914400" marR="0" rtl="0" algn="l">
              <a:lnSpc>
                <a:spcPct val="90000"/>
              </a:lnSpc>
              <a:spcBef>
                <a:spcPts val="37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39" name="Shape 139"/>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140" name="Shape 140"/>
        <p:cNvGrpSpPr/>
        <p:nvPr/>
      </p:nvGrpSpPr>
      <p:grpSpPr>
        <a:xfrm>
          <a:off x="0" y="0"/>
          <a:ext cx="0" cy="0"/>
          <a:chOff x="0" y="0"/>
          <a:chExt cx="0" cy="0"/>
        </a:xfrm>
      </p:grpSpPr>
      <p:sp>
        <p:nvSpPr>
          <p:cNvPr id="141" name="Google Shape;141;p32"/>
          <p:cNvSpPr txBox="1"/>
          <p:nvPr>
            <p:ph type="title"/>
          </p:nvPr>
        </p:nvSpPr>
        <p:spPr>
          <a:xfrm>
            <a:off x="623888" y="1282304"/>
            <a:ext cx="7886700" cy="21396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4500"/>
              <a:buFont typeface="Calibri"/>
              <a:buNone/>
              <a:defRPr b="0" i="0" sz="45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42" name="Google Shape;142;p32"/>
          <p:cNvSpPr txBox="1"/>
          <p:nvPr>
            <p:ph idx="1" type="body"/>
          </p:nvPr>
        </p:nvSpPr>
        <p:spPr>
          <a:xfrm>
            <a:off x="623888" y="3442098"/>
            <a:ext cx="7886700" cy="1125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1pPr>
            <a:lvl2pPr indent="-228600" lvl="1" marL="914400" marR="0" rtl="0" algn="l">
              <a:lnSpc>
                <a:spcPct val="90000"/>
              </a:lnSpc>
              <a:spcBef>
                <a:spcPts val="375"/>
              </a:spcBef>
              <a:spcAft>
                <a:spcPts val="0"/>
              </a:spcAft>
              <a:buClr>
                <a:srgbClr val="888888"/>
              </a:buClr>
              <a:buSzPts val="1500"/>
              <a:buFont typeface="Arial"/>
              <a:buNone/>
              <a:defRPr b="0" i="0" sz="15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375"/>
              </a:spcBef>
              <a:spcAft>
                <a:spcPts val="0"/>
              </a:spcAft>
              <a:buClr>
                <a:srgbClr val="888888"/>
              </a:buClr>
              <a:buSzPts val="1350"/>
              <a:buFont typeface="Arial"/>
              <a:buNone/>
              <a:defRPr b="0" i="0" sz="1350" u="none" cap="none" strike="noStrike">
                <a:solidFill>
                  <a:srgbClr val="888888"/>
                </a:solidFill>
                <a:latin typeface="Calibri"/>
                <a:ea typeface="Calibri"/>
                <a:cs typeface="Calibri"/>
                <a:sym typeface="Calibri"/>
              </a:defRPr>
            </a:lvl3pPr>
            <a:lvl4pPr indent="-228600" lvl="3" marL="18288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9pPr>
          </a:lstStyle>
          <a:p/>
        </p:txBody>
      </p:sp>
      <p:sp>
        <p:nvSpPr>
          <p:cNvPr id="143" name="Google Shape;143;p32"/>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4" name="Google Shape;144;p32"/>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5" name="Google Shape;145;p32"/>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146" name="Shape 146"/>
        <p:cNvGrpSpPr/>
        <p:nvPr/>
      </p:nvGrpSpPr>
      <p:grpSpPr>
        <a:xfrm>
          <a:off x="0" y="0"/>
          <a:ext cx="0" cy="0"/>
          <a:chOff x="0" y="0"/>
          <a:chExt cx="0" cy="0"/>
        </a:xfrm>
      </p:grpSpPr>
      <p:sp>
        <p:nvSpPr>
          <p:cNvPr id="147" name="Google Shape;147;p33"/>
          <p:cNvSpPr txBox="1"/>
          <p:nvPr>
            <p:ph type="title"/>
          </p:nvPr>
        </p:nvSpPr>
        <p:spPr>
          <a:xfrm>
            <a:off x="628650"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48" name="Google Shape;148;p33"/>
          <p:cNvSpPr txBox="1"/>
          <p:nvPr>
            <p:ph idx="1" type="body"/>
          </p:nvPr>
        </p:nvSpPr>
        <p:spPr>
          <a:xfrm>
            <a:off x="628650" y="1369219"/>
            <a:ext cx="3886200" cy="32634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9" name="Google Shape;149;p33"/>
          <p:cNvSpPr txBox="1"/>
          <p:nvPr>
            <p:ph idx="2" type="body"/>
          </p:nvPr>
        </p:nvSpPr>
        <p:spPr>
          <a:xfrm>
            <a:off x="4629150" y="1369219"/>
            <a:ext cx="3886200" cy="32634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0" name="Google Shape;150;p33"/>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1" name="Google Shape;151;p33"/>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33"/>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153" name="Shape 153"/>
        <p:cNvGrpSpPr/>
        <p:nvPr/>
      </p:nvGrpSpPr>
      <p:grpSpPr>
        <a:xfrm>
          <a:off x="0" y="0"/>
          <a:ext cx="0" cy="0"/>
          <a:chOff x="0" y="0"/>
          <a:chExt cx="0" cy="0"/>
        </a:xfrm>
      </p:grpSpPr>
      <p:sp>
        <p:nvSpPr>
          <p:cNvPr id="154" name="Google Shape;154;p34"/>
          <p:cNvSpPr txBox="1"/>
          <p:nvPr>
            <p:ph type="title"/>
          </p:nvPr>
        </p:nvSpPr>
        <p:spPr>
          <a:xfrm>
            <a:off x="629841"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55" name="Google Shape;155;p34"/>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350"/>
              <a:buFont typeface="Arial"/>
              <a:buNone/>
              <a:defRPr b="1" i="0" sz="135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156" name="Google Shape;156;p34"/>
          <p:cNvSpPr txBox="1"/>
          <p:nvPr>
            <p:ph idx="2" type="body"/>
          </p:nvPr>
        </p:nvSpPr>
        <p:spPr>
          <a:xfrm>
            <a:off x="629842" y="1878806"/>
            <a:ext cx="3868200" cy="27633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7" name="Google Shape;157;p34"/>
          <p:cNvSpPr txBox="1"/>
          <p:nvPr>
            <p:ph idx="3" type="body"/>
          </p:nvPr>
        </p:nvSpPr>
        <p:spPr>
          <a:xfrm>
            <a:off x="4629150" y="1260872"/>
            <a:ext cx="3887400" cy="618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350"/>
              <a:buFont typeface="Arial"/>
              <a:buNone/>
              <a:defRPr b="1" i="0" sz="135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158" name="Google Shape;158;p34"/>
          <p:cNvSpPr txBox="1"/>
          <p:nvPr>
            <p:ph idx="4" type="body"/>
          </p:nvPr>
        </p:nvSpPr>
        <p:spPr>
          <a:xfrm>
            <a:off x="4629150" y="1878806"/>
            <a:ext cx="3887400" cy="27633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9" name="Google Shape;159;p34"/>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0" name="Google Shape;160;p34"/>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34"/>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162" name="Shape 162"/>
        <p:cNvGrpSpPr/>
        <p:nvPr/>
      </p:nvGrpSpPr>
      <p:grpSpPr>
        <a:xfrm>
          <a:off x="0" y="0"/>
          <a:ext cx="0" cy="0"/>
          <a:chOff x="0" y="0"/>
          <a:chExt cx="0" cy="0"/>
        </a:xfrm>
      </p:grpSpPr>
      <p:sp>
        <p:nvSpPr>
          <p:cNvPr id="163" name="Google Shape;163;p35"/>
          <p:cNvSpPr txBox="1"/>
          <p:nvPr>
            <p:ph type="title"/>
          </p:nvPr>
        </p:nvSpPr>
        <p:spPr>
          <a:xfrm>
            <a:off x="628650"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64" name="Google Shape;164;p35"/>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5" name="Google Shape;165;p35"/>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6" name="Google Shape;166;p35"/>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167" name="Shape 167"/>
        <p:cNvGrpSpPr/>
        <p:nvPr/>
      </p:nvGrpSpPr>
      <p:grpSpPr>
        <a:xfrm>
          <a:off x="0" y="0"/>
          <a:ext cx="0" cy="0"/>
          <a:chOff x="0" y="0"/>
          <a:chExt cx="0" cy="0"/>
        </a:xfrm>
      </p:grpSpPr>
      <p:sp>
        <p:nvSpPr>
          <p:cNvPr id="168" name="Google Shape;168;p36"/>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69" name="Google Shape;169;p36"/>
          <p:cNvSpPr txBox="1"/>
          <p:nvPr>
            <p:ph idx="1" type="body"/>
          </p:nvPr>
        </p:nvSpPr>
        <p:spPr>
          <a:xfrm>
            <a:off x="3887391" y="740569"/>
            <a:ext cx="4629300" cy="3655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75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90000"/>
              </a:lnSpc>
              <a:spcBef>
                <a:spcPts val="37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70" name="Google Shape;170;p36"/>
          <p:cNvSpPr txBox="1"/>
          <p:nvPr>
            <p:ph idx="2" type="body"/>
          </p:nvPr>
        </p:nvSpPr>
        <p:spPr>
          <a:xfrm>
            <a:off x="629841" y="1543050"/>
            <a:ext cx="2949300" cy="2858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050"/>
              <a:buFont typeface="Arial"/>
              <a:buNone/>
              <a:defRPr b="0" i="0" sz="105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9pPr>
          </a:lstStyle>
          <a:p/>
        </p:txBody>
      </p:sp>
      <p:sp>
        <p:nvSpPr>
          <p:cNvPr id="171" name="Google Shape;171;p36"/>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2" name="Google Shape;172;p36"/>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3" name="Google Shape;173;p36"/>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174" name="Shape 174"/>
        <p:cNvGrpSpPr/>
        <p:nvPr/>
      </p:nvGrpSpPr>
      <p:grpSpPr>
        <a:xfrm>
          <a:off x="0" y="0"/>
          <a:ext cx="0" cy="0"/>
          <a:chOff x="0" y="0"/>
          <a:chExt cx="0" cy="0"/>
        </a:xfrm>
      </p:grpSpPr>
      <p:sp>
        <p:nvSpPr>
          <p:cNvPr id="175" name="Google Shape;175;p37"/>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76" name="Google Shape;176;p37"/>
          <p:cNvSpPr/>
          <p:nvPr>
            <p:ph idx="2" type="pic"/>
          </p:nvPr>
        </p:nvSpPr>
        <p:spPr>
          <a:xfrm>
            <a:off x="3887391" y="740569"/>
            <a:ext cx="4629300" cy="3655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177" name="Google Shape;177;p37"/>
          <p:cNvSpPr txBox="1"/>
          <p:nvPr>
            <p:ph idx="1" type="body"/>
          </p:nvPr>
        </p:nvSpPr>
        <p:spPr>
          <a:xfrm>
            <a:off x="629841" y="1543050"/>
            <a:ext cx="2949300" cy="2858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050"/>
              <a:buFont typeface="Arial"/>
              <a:buNone/>
              <a:defRPr b="0" i="0" sz="105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9pPr>
          </a:lstStyle>
          <a:p/>
        </p:txBody>
      </p:sp>
      <p:sp>
        <p:nvSpPr>
          <p:cNvPr id="178" name="Google Shape;178;p37"/>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9" name="Google Shape;179;p37"/>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0" name="Google Shape;180;p37"/>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181" name="Shape 181"/>
        <p:cNvGrpSpPr/>
        <p:nvPr/>
      </p:nvGrpSpPr>
      <p:grpSpPr>
        <a:xfrm>
          <a:off x="0" y="0"/>
          <a:ext cx="0" cy="0"/>
          <a:chOff x="0" y="0"/>
          <a:chExt cx="0" cy="0"/>
        </a:xfrm>
      </p:grpSpPr>
      <p:sp>
        <p:nvSpPr>
          <p:cNvPr id="182" name="Google Shape;182;p38"/>
          <p:cNvSpPr txBox="1"/>
          <p:nvPr>
            <p:ph type="title"/>
          </p:nvPr>
        </p:nvSpPr>
        <p:spPr>
          <a:xfrm>
            <a:off x="628650"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83" name="Google Shape;183;p38"/>
          <p:cNvSpPr txBox="1"/>
          <p:nvPr>
            <p:ph idx="1" type="body"/>
          </p:nvPr>
        </p:nvSpPr>
        <p:spPr>
          <a:xfrm rot="5400000">
            <a:off x="2940300" y="-942431"/>
            <a:ext cx="3263400" cy="78867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4" name="Google Shape;184;p38"/>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5" name="Google Shape;185;p38"/>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6" name="Google Shape;186;p38"/>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187" name="Shape 187"/>
        <p:cNvGrpSpPr/>
        <p:nvPr/>
      </p:nvGrpSpPr>
      <p:grpSpPr>
        <a:xfrm>
          <a:off x="0" y="0"/>
          <a:ext cx="0" cy="0"/>
          <a:chOff x="0" y="0"/>
          <a:chExt cx="0" cy="0"/>
        </a:xfrm>
      </p:grpSpPr>
      <p:sp>
        <p:nvSpPr>
          <p:cNvPr id="188" name="Google Shape;188;p39"/>
          <p:cNvSpPr txBox="1"/>
          <p:nvPr>
            <p:ph type="title"/>
          </p:nvPr>
        </p:nvSpPr>
        <p:spPr>
          <a:xfrm rot="5400000">
            <a:off x="5350050" y="1467544"/>
            <a:ext cx="4359000" cy="1971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89" name="Google Shape;189;p39"/>
          <p:cNvSpPr txBox="1"/>
          <p:nvPr>
            <p:ph idx="1" type="body"/>
          </p:nvPr>
        </p:nvSpPr>
        <p:spPr>
          <a:xfrm rot="5400000">
            <a:off x="1349475" y="-447056"/>
            <a:ext cx="4359000" cy="58008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90" name="Google Shape;190;p39"/>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1" name="Google Shape;191;p39"/>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2" name="Google Shape;192;p39"/>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4.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2" Type="http://schemas.openxmlformats.org/officeDocument/2006/relationships/theme" Target="../theme/theme2.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6.xml"/><Relationship Id="rId10" Type="http://schemas.openxmlformats.org/officeDocument/2006/relationships/slideLayout" Target="../slideLayouts/slideLayout35.xml"/><Relationship Id="rId12" Type="http://schemas.openxmlformats.org/officeDocument/2006/relationships/theme" Target="../theme/theme3.xml"/><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6"/>
          <p:cNvSpPr/>
          <p:nvPr/>
        </p:nvSpPr>
        <p:spPr>
          <a:xfrm>
            <a:off x="-130629" y="1205802"/>
            <a:ext cx="9425400" cy="2481900"/>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28"/>
          <p:cNvSpPr txBox="1"/>
          <p:nvPr/>
        </p:nvSpPr>
        <p:spPr>
          <a:xfrm>
            <a:off x="277866" y="209810"/>
            <a:ext cx="4419300" cy="469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p:txBody>
      </p:sp>
      <p:cxnSp>
        <p:nvCxnSpPr>
          <p:cNvPr id="128" name="Google Shape;128;p28"/>
          <p:cNvCxnSpPr/>
          <p:nvPr/>
        </p:nvCxnSpPr>
        <p:spPr>
          <a:xfrm>
            <a:off x="386923" y="679508"/>
            <a:ext cx="8262000" cy="0"/>
          </a:xfrm>
          <a:prstGeom prst="straightConnector1">
            <a:avLst/>
          </a:prstGeom>
          <a:noFill/>
          <a:ln cap="flat" cmpd="sng" w="25400">
            <a:solidFill>
              <a:srgbClr val="FCBC36"/>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 Id="rId3" Type="http://schemas.openxmlformats.org/officeDocument/2006/relationships/hyperlink" Target="https://arxiv.org/pdf/2302.04761" TargetMode="Externa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hyperlink" Target="https://arxiv.org/pdf/2503.00223" TargetMode="Externa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000"/>
        </a:solidFill>
      </p:bgPr>
    </p:bg>
    <p:spTree>
      <p:nvGrpSpPr>
        <p:cNvPr id="196" name="Shape 196"/>
        <p:cNvGrpSpPr/>
        <p:nvPr/>
      </p:nvGrpSpPr>
      <p:grpSpPr>
        <a:xfrm>
          <a:off x="0" y="0"/>
          <a:ext cx="0" cy="0"/>
          <a:chOff x="0" y="0"/>
          <a:chExt cx="0" cy="0"/>
        </a:xfrm>
      </p:grpSpPr>
      <p:sp>
        <p:nvSpPr>
          <p:cNvPr id="197" name="Google Shape;197;p40"/>
          <p:cNvSpPr/>
          <p:nvPr/>
        </p:nvSpPr>
        <p:spPr>
          <a:xfrm>
            <a:off x="3918597" y="3204527"/>
            <a:ext cx="1306800" cy="307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ko">
                <a:solidFill>
                  <a:schemeClr val="dk1"/>
                </a:solidFill>
              </a:rPr>
              <a:t>2026.01.09</a:t>
            </a:r>
            <a:br>
              <a:rPr b="1" lang="ko">
                <a:solidFill>
                  <a:schemeClr val="dk1"/>
                </a:solidFill>
              </a:rPr>
            </a:br>
            <a:r>
              <a:rPr b="1" lang="ko">
                <a:solidFill>
                  <a:schemeClr val="dk1"/>
                </a:solidFill>
              </a:rPr>
              <a:t>peny.official</a:t>
            </a:r>
            <a:endParaRPr>
              <a:solidFill>
                <a:schemeClr val="dk1"/>
              </a:solidFill>
            </a:endParaRPr>
          </a:p>
          <a:p>
            <a:pPr indent="0" lvl="0" marL="0" marR="0" rtl="0" algn="l">
              <a:spcBef>
                <a:spcPts val="0"/>
              </a:spcBef>
              <a:spcAft>
                <a:spcPts val="0"/>
              </a:spcAft>
              <a:buNone/>
            </a:pPr>
            <a:r>
              <a:t/>
            </a:r>
            <a:endParaRPr b="1">
              <a:solidFill>
                <a:schemeClr val="dk1"/>
              </a:solidFill>
            </a:endParaRPr>
          </a:p>
          <a:p>
            <a:pPr indent="0" lvl="0" marL="0" marR="0" rtl="0" algn="l">
              <a:spcBef>
                <a:spcPts val="0"/>
              </a:spcBef>
              <a:spcAft>
                <a:spcPts val="0"/>
              </a:spcAft>
              <a:buNone/>
            </a:pPr>
            <a:r>
              <a:t/>
            </a:r>
            <a:endParaRPr b="1">
              <a:solidFill>
                <a:schemeClr val="dk1"/>
              </a:solidFill>
            </a:endParaRPr>
          </a:p>
        </p:txBody>
      </p:sp>
      <p:sp>
        <p:nvSpPr>
          <p:cNvPr id="198" name="Google Shape;198;p40"/>
          <p:cNvSpPr txBox="1"/>
          <p:nvPr/>
        </p:nvSpPr>
        <p:spPr>
          <a:xfrm>
            <a:off x="2050808" y="1106521"/>
            <a:ext cx="5042400" cy="861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ko" sz="3000">
                <a:solidFill>
                  <a:schemeClr val="dk1"/>
                </a:solidFill>
              </a:rPr>
              <a:t>Adaptation of Agentic AI</a:t>
            </a:r>
            <a:br>
              <a:rPr lang="ko" sz="3000">
                <a:solidFill>
                  <a:schemeClr val="dk1"/>
                </a:solidFill>
              </a:rPr>
            </a:br>
            <a:r>
              <a:rPr lang="ko" sz="3000">
                <a:solidFill>
                  <a:schemeClr val="dk1"/>
                </a:solidFill>
              </a:rPr>
              <a:t>(arXiv:2512.16301)</a:t>
            </a:r>
            <a:endParaRPr sz="3000"/>
          </a:p>
        </p:txBody>
      </p:sp>
      <p:pic>
        <p:nvPicPr>
          <p:cNvPr id="199" name="Google Shape;199;p40"/>
          <p:cNvPicPr preferRelativeResize="0"/>
          <p:nvPr/>
        </p:nvPicPr>
        <p:blipFill rotWithShape="1">
          <a:blip r:embed="rId3">
            <a:alphaModFix/>
          </a:blip>
          <a:srcRect b="0" l="0" r="0" t="0"/>
          <a:stretch/>
        </p:blipFill>
        <p:spPr>
          <a:xfrm>
            <a:off x="7933620" y="4582992"/>
            <a:ext cx="921274" cy="2834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1"/>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000"/>
              <a:t>목차</a:t>
            </a:r>
            <a:endParaRPr sz="2000"/>
          </a:p>
        </p:txBody>
      </p:sp>
      <p:sp>
        <p:nvSpPr>
          <p:cNvPr id="205" name="Google Shape;205;p41"/>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p>
            <a:pPr indent="-355600" lvl="0" marL="457200" rtl="0" algn="l">
              <a:lnSpc>
                <a:spcPct val="150000"/>
              </a:lnSpc>
              <a:spcBef>
                <a:spcPts val="0"/>
              </a:spcBef>
              <a:spcAft>
                <a:spcPts val="0"/>
              </a:spcAft>
              <a:buSzPts val="2000"/>
              <a:buChar char="●"/>
            </a:pPr>
            <a:r>
              <a:rPr lang="ko" sz="2000"/>
              <a:t>Agentic AI &amp; Adaption 이란?</a:t>
            </a:r>
            <a:endParaRPr sz="2000"/>
          </a:p>
          <a:p>
            <a:pPr indent="-355600" lvl="0" marL="457200" rtl="0" algn="l">
              <a:lnSpc>
                <a:spcPct val="150000"/>
              </a:lnSpc>
              <a:spcBef>
                <a:spcPts val="0"/>
              </a:spcBef>
              <a:spcAft>
                <a:spcPts val="0"/>
              </a:spcAft>
              <a:buSzPts val="2000"/>
              <a:buChar char="●"/>
            </a:pPr>
            <a:r>
              <a:rPr lang="ko" sz="2000"/>
              <a:t>Adaption 패러다임 - A1, A2, T1, T2</a:t>
            </a:r>
            <a:endParaRPr sz="2000"/>
          </a:p>
          <a:p>
            <a:pPr indent="-355600" lvl="0" marL="457200" rtl="0" algn="l">
              <a:lnSpc>
                <a:spcPct val="150000"/>
              </a:lnSpc>
              <a:spcBef>
                <a:spcPts val="0"/>
              </a:spcBef>
              <a:spcAft>
                <a:spcPts val="0"/>
              </a:spcAft>
              <a:buSzPts val="2000"/>
              <a:buChar char="●"/>
            </a:pPr>
            <a:r>
              <a:rPr lang="ko" sz="2000"/>
              <a:t>Adaption 패러다임 비교</a:t>
            </a:r>
            <a:endParaRPr sz="2000"/>
          </a:p>
          <a:p>
            <a:pPr indent="-355600" lvl="0" marL="457200" rtl="0" algn="l">
              <a:lnSpc>
                <a:spcPct val="150000"/>
              </a:lnSpc>
              <a:spcBef>
                <a:spcPts val="0"/>
              </a:spcBef>
              <a:spcAft>
                <a:spcPts val="0"/>
              </a:spcAft>
              <a:buSzPts val="2000"/>
              <a:buChar char="●"/>
            </a:pPr>
            <a:r>
              <a:rPr lang="ko" sz="2000"/>
              <a:t>Agentic AI의 미래</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2"/>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Agentic AI &amp; Adaption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3"/>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000"/>
              <a:t>Agentic AI</a:t>
            </a:r>
            <a:endParaRPr sz="2000"/>
          </a:p>
        </p:txBody>
      </p:sp>
      <p:sp>
        <p:nvSpPr>
          <p:cNvPr id="216" name="Google Shape;216;p43"/>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Agentic AI란 무엇인가?</a:t>
            </a:r>
            <a:endParaRPr sz="2000"/>
          </a:p>
          <a:p>
            <a:pPr indent="-355600" lvl="1" marL="914400" rtl="0" algn="l">
              <a:lnSpc>
                <a:spcPct val="115000"/>
              </a:lnSpc>
              <a:spcBef>
                <a:spcPts val="0"/>
              </a:spcBef>
              <a:spcAft>
                <a:spcPts val="0"/>
              </a:spcAft>
              <a:buSzPts val="2000"/>
              <a:buChar char="○"/>
            </a:pPr>
            <a:r>
              <a:rPr lang="ko" sz="2000"/>
              <a:t>환경을 인식(Perceive)하고, 추론(Reason)**하며, 행동(Act)할 뿐만 아니라 환경과의 상호작용을 통해 지속적으로 스스로를 개선할 수 있는 자율적인 인공지능 시스템.</a:t>
            </a:r>
            <a:endParaRPr sz="2000"/>
          </a:p>
          <a:p>
            <a:pPr indent="-355600" lvl="1" marL="914400" rtl="0" algn="l">
              <a:lnSpc>
                <a:spcPct val="115000"/>
              </a:lnSpc>
              <a:spcBef>
                <a:spcPts val="0"/>
              </a:spcBef>
              <a:spcAft>
                <a:spcPts val="0"/>
              </a:spcAft>
              <a:buSzPts val="2000"/>
              <a:buChar char="○"/>
            </a:pPr>
            <a:r>
              <a:rPr lang="ko" sz="2000"/>
              <a:t>기반 모델(Foundation Model)</a:t>
            </a:r>
            <a:r>
              <a:rPr lang="ko" sz="2000"/>
              <a:t>이 있으며, 이를 보조하여 자율성을 확장하는 계</a:t>
            </a:r>
            <a:r>
              <a:rPr lang="ko" sz="2000"/>
              <a:t>획(Planning), 도구 사용(Tool Use), 메모리(Memory) 모듈로 구성</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4"/>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000"/>
              <a:t>Agentic AI와 Adaption</a:t>
            </a:r>
            <a:endParaRPr sz="2000"/>
          </a:p>
        </p:txBody>
      </p:sp>
      <p:sp>
        <p:nvSpPr>
          <p:cNvPr id="222" name="Google Shape;222;p44"/>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Adaption 은 무엇인가?</a:t>
            </a:r>
            <a:endParaRPr sz="2000"/>
          </a:p>
          <a:p>
            <a:pPr indent="-355600" lvl="1" marL="914400" rtl="0" algn="l">
              <a:lnSpc>
                <a:spcPct val="115000"/>
              </a:lnSpc>
              <a:spcBef>
                <a:spcPts val="0"/>
              </a:spcBef>
              <a:spcAft>
                <a:spcPts val="0"/>
              </a:spcAft>
              <a:buSzPts val="2000"/>
              <a:buChar char="○"/>
            </a:pPr>
            <a:r>
              <a:rPr lang="ko" sz="2000"/>
              <a:t>AI가 특정 도메인, 작업 또는 운영 환경의 요구 사항에 더 잘 맞도록 자신의 행동, 의사결정 전략 및 내부 표현을 조정하는 필수적인 과정</a:t>
            </a:r>
            <a:endParaRPr sz="2000"/>
          </a:p>
          <a:p>
            <a:pPr indent="-355600" lvl="1" marL="914400" rtl="0" algn="l">
              <a:lnSpc>
                <a:spcPct val="115000"/>
              </a:lnSpc>
              <a:spcBef>
                <a:spcPts val="0"/>
              </a:spcBef>
              <a:spcAft>
                <a:spcPts val="0"/>
              </a:spcAft>
              <a:buSzPts val="2000"/>
              <a:buChar char="○"/>
            </a:pPr>
            <a:r>
              <a:rPr lang="ko" sz="2000">
                <a:solidFill>
                  <a:srgbClr val="0000FF"/>
                </a:solidFill>
              </a:rPr>
              <a:t>프롬프트 엔지니어링(Prompt Engineering)</a:t>
            </a:r>
            <a:r>
              <a:rPr lang="ko" sz="2000"/>
              <a:t>: </a:t>
            </a:r>
            <a:r>
              <a:rPr lang="ko" sz="2000"/>
              <a:t>모델의 파라미터를 수정하지 않고 </a:t>
            </a:r>
            <a:r>
              <a:rPr lang="ko" sz="2000"/>
              <a:t>지시어</a:t>
            </a:r>
            <a:r>
              <a:rPr lang="ko" sz="2000"/>
              <a:t>를 통해 AI</a:t>
            </a:r>
            <a:r>
              <a:rPr lang="ko" sz="2000"/>
              <a:t>의 </a:t>
            </a:r>
            <a:r>
              <a:rPr lang="ko" sz="2000"/>
              <a:t>행동을 유</a:t>
            </a:r>
            <a:r>
              <a:rPr lang="ko" sz="2000"/>
              <a:t>도</a:t>
            </a:r>
            <a:endParaRPr sz="2000"/>
          </a:p>
          <a:p>
            <a:pPr indent="-355600" lvl="1" marL="914400" rtl="0" algn="l">
              <a:lnSpc>
                <a:spcPct val="115000"/>
              </a:lnSpc>
              <a:spcBef>
                <a:spcPts val="0"/>
              </a:spcBef>
              <a:spcAft>
                <a:spcPts val="0"/>
              </a:spcAft>
              <a:buSzPts val="2000"/>
              <a:buChar char="○"/>
            </a:pPr>
            <a:r>
              <a:rPr lang="ko" sz="2000">
                <a:solidFill>
                  <a:srgbClr val="0000FF"/>
                </a:solidFill>
              </a:rPr>
              <a:t>파인튜닝(Fine-tuning)</a:t>
            </a:r>
            <a:r>
              <a:rPr lang="ko" sz="2000"/>
              <a:t>: </a:t>
            </a:r>
            <a:r>
              <a:rPr lang="ko" sz="2000"/>
              <a:t>파라미터를 직접 업데이트</a:t>
            </a:r>
            <a:r>
              <a:rPr lang="ko" sz="2000"/>
              <a:t>함</a:t>
            </a:r>
            <a:endParaRPr sz="2000"/>
          </a:p>
          <a:p>
            <a:pPr indent="-355600" lvl="0" marL="457200" rtl="0" algn="l">
              <a:lnSpc>
                <a:spcPct val="115000"/>
              </a:lnSpc>
              <a:spcBef>
                <a:spcPts val="0"/>
              </a:spcBef>
              <a:spcAft>
                <a:spcPts val="0"/>
              </a:spcAft>
              <a:buSzPts val="2000"/>
              <a:buChar char="●"/>
            </a:pPr>
            <a:r>
              <a:rPr lang="ko" sz="2000"/>
              <a:t>Adaption 이 왜 필요한가?</a:t>
            </a:r>
            <a:endParaRPr sz="2000"/>
          </a:p>
          <a:p>
            <a:pPr indent="-355600" lvl="1" marL="914400" rtl="0" algn="l">
              <a:lnSpc>
                <a:spcPct val="115000"/>
              </a:lnSpc>
              <a:spcBef>
                <a:spcPts val="0"/>
              </a:spcBef>
              <a:spcAft>
                <a:spcPts val="0"/>
              </a:spcAft>
              <a:buSzPts val="2000"/>
              <a:buChar char="○"/>
            </a:pPr>
            <a:r>
              <a:rPr lang="ko" sz="2000"/>
              <a:t>범용 모델(LLM) 을 특정 도메인에서 사용할 수 있는 수준으로 정렬(Alignment)하기 위한 핵심 동력</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5"/>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패러다임 </a:t>
            </a:r>
            <a:r>
              <a:rPr lang="ko"/>
              <a:t>소개</a:t>
            </a:r>
            <a:r>
              <a:rPr lang="ko"/>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6"/>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Adaption 프레임워크의 네 가지 패러다임 (A1, A2, T1, T2)</a:t>
            </a:r>
            <a:endParaRPr sz="2400"/>
          </a:p>
        </p:txBody>
      </p:sp>
      <p:sp>
        <p:nvSpPr>
          <p:cNvPr id="233" name="Google Shape;233;p46"/>
          <p:cNvSpPr txBox="1"/>
          <p:nvPr>
            <p:ph idx="1" type="body"/>
          </p:nvPr>
        </p:nvSpPr>
        <p:spPr>
          <a:xfrm>
            <a:off x="266150" y="3017100"/>
            <a:ext cx="8722500" cy="2126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분류 기준 1: 최적화 대상 (Optimization Target) - </a:t>
            </a:r>
            <a:r>
              <a:rPr lang="ko" sz="1900">
                <a:solidFill>
                  <a:srgbClr val="FF0000"/>
                </a:solidFill>
              </a:rPr>
              <a:t>누가?</a:t>
            </a:r>
            <a:endParaRPr sz="1900">
              <a:solidFill>
                <a:srgbClr val="FF0000"/>
              </a:solidFill>
            </a:endParaRPr>
          </a:p>
          <a:p>
            <a:pPr indent="-349250" lvl="1" marL="914400" rtl="0" algn="l">
              <a:lnSpc>
                <a:spcPct val="115000"/>
              </a:lnSpc>
              <a:spcBef>
                <a:spcPts val="0"/>
              </a:spcBef>
              <a:spcAft>
                <a:spcPts val="0"/>
              </a:spcAft>
              <a:buSzPts val="1900"/>
              <a:buChar char="○"/>
            </a:pPr>
            <a:r>
              <a:rPr lang="ko" sz="1900"/>
              <a:t>에이전트(Agent): 모델 내부 매개변수나 행동 정책 수정</a:t>
            </a:r>
            <a:endParaRPr sz="1900"/>
          </a:p>
          <a:p>
            <a:pPr indent="-349250" lvl="1" marL="914400" rtl="0" algn="l">
              <a:lnSpc>
                <a:spcPct val="115000"/>
              </a:lnSpc>
              <a:spcBef>
                <a:spcPts val="0"/>
              </a:spcBef>
              <a:spcAft>
                <a:spcPts val="0"/>
              </a:spcAft>
              <a:buSzPts val="1900"/>
              <a:buChar char="○"/>
            </a:pPr>
            <a:r>
              <a:rPr lang="ko" sz="1900"/>
              <a:t>도구(Tool): 검색기, 메모리 등 외부 모듈 최적화</a:t>
            </a:r>
            <a:endParaRPr sz="1900"/>
          </a:p>
          <a:p>
            <a:pPr indent="-349250" lvl="0" marL="457200" rtl="0" algn="l">
              <a:lnSpc>
                <a:spcPct val="115000"/>
              </a:lnSpc>
              <a:spcBef>
                <a:spcPts val="0"/>
              </a:spcBef>
              <a:spcAft>
                <a:spcPts val="0"/>
              </a:spcAft>
              <a:buSzPts val="1900"/>
              <a:buChar char="●"/>
            </a:pPr>
            <a:r>
              <a:rPr lang="ko" sz="1900"/>
              <a:t>분류 기준 2: 적응 신호 유형 (Adaptation Signal) - </a:t>
            </a:r>
            <a:r>
              <a:rPr lang="ko" sz="1900">
                <a:solidFill>
                  <a:srgbClr val="0000FF"/>
                </a:solidFill>
              </a:rPr>
              <a:t>무엇을?</a:t>
            </a:r>
            <a:endParaRPr sz="1900">
              <a:solidFill>
                <a:srgbClr val="0000FF"/>
              </a:solidFill>
            </a:endParaRPr>
          </a:p>
          <a:p>
            <a:pPr indent="-349250" lvl="1" marL="914400" rtl="0" algn="l">
              <a:lnSpc>
                <a:spcPct val="115000"/>
              </a:lnSpc>
              <a:spcBef>
                <a:spcPts val="0"/>
              </a:spcBef>
              <a:spcAft>
                <a:spcPts val="0"/>
              </a:spcAft>
              <a:buSzPts val="1900"/>
              <a:buChar char="○"/>
            </a:pPr>
            <a:r>
              <a:rPr lang="ko" sz="1900"/>
              <a:t>A1/A2: 도구 실행 결과에서 신호를 얻느냐, 최종 답변에서 얻느냐의 차이</a:t>
            </a:r>
            <a:endParaRPr sz="1900"/>
          </a:p>
          <a:p>
            <a:pPr indent="-349250" lvl="1" marL="914400" rtl="0" algn="l">
              <a:lnSpc>
                <a:spcPct val="115000"/>
              </a:lnSpc>
              <a:spcBef>
                <a:spcPts val="0"/>
              </a:spcBef>
              <a:spcAft>
                <a:spcPts val="0"/>
              </a:spcAft>
              <a:buSzPts val="1900"/>
              <a:buChar char="○"/>
            </a:pPr>
            <a:r>
              <a:rPr lang="ko" sz="1900"/>
              <a:t>T1/T2: 도구가 에이전트와 독립적이냐, 에이전트의 감독을 받느냐의 차이</a:t>
            </a:r>
            <a:endParaRPr sz="1900"/>
          </a:p>
          <a:p>
            <a:pPr indent="0" lvl="0" marL="0" rtl="0" algn="l">
              <a:lnSpc>
                <a:spcPct val="115000"/>
              </a:lnSpc>
              <a:spcBef>
                <a:spcPts val="0"/>
              </a:spcBef>
              <a:spcAft>
                <a:spcPts val="0"/>
              </a:spcAft>
              <a:buNone/>
            </a:pPr>
            <a:r>
              <a:t/>
            </a:r>
            <a:endParaRPr sz="1900"/>
          </a:p>
        </p:txBody>
      </p:sp>
      <p:pic>
        <p:nvPicPr>
          <p:cNvPr id="234" name="Google Shape;234;p46"/>
          <p:cNvPicPr preferRelativeResize="0"/>
          <p:nvPr/>
        </p:nvPicPr>
        <p:blipFill>
          <a:blip r:embed="rId3">
            <a:alphaModFix/>
          </a:blip>
          <a:stretch>
            <a:fillRect/>
          </a:stretch>
        </p:blipFill>
        <p:spPr>
          <a:xfrm>
            <a:off x="1569625" y="817249"/>
            <a:ext cx="5913123" cy="2126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7"/>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패러다임 A1 - 도구 실행 신호 기반 에이전트 적응</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40" name="Google Shape;240;p47"/>
          <p:cNvSpPr txBox="1"/>
          <p:nvPr>
            <p:ph idx="1" type="body"/>
          </p:nvPr>
        </p:nvSpPr>
        <p:spPr>
          <a:xfrm>
            <a:off x="266150" y="3017100"/>
            <a:ext cx="8722500" cy="2126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핵심 개념</a:t>
            </a:r>
            <a:endParaRPr sz="1900"/>
          </a:p>
          <a:p>
            <a:pPr indent="-349250" lvl="1" marL="914400" rtl="0" algn="l">
              <a:lnSpc>
                <a:spcPct val="115000"/>
              </a:lnSpc>
              <a:spcBef>
                <a:spcPts val="0"/>
              </a:spcBef>
              <a:spcAft>
                <a:spcPts val="0"/>
              </a:spcAft>
              <a:buSzPts val="1900"/>
              <a:buChar char="○"/>
            </a:pPr>
            <a:r>
              <a:rPr lang="ko" sz="1900">
                <a:solidFill>
                  <a:srgbClr val="FF0000"/>
                </a:solidFill>
              </a:rPr>
              <a:t>에이전트</a:t>
            </a:r>
            <a:r>
              <a:rPr lang="ko" sz="1900"/>
              <a:t>가 </a:t>
            </a:r>
            <a:r>
              <a:rPr lang="ko" sz="1900">
                <a:solidFill>
                  <a:srgbClr val="0000FF"/>
                </a:solidFill>
              </a:rPr>
              <a:t>도구를 사용한 실행 결과</a:t>
            </a:r>
            <a:r>
              <a:rPr lang="ko" sz="1900"/>
              <a:t>를 직접적인 피드백으로 삼아 학습</a:t>
            </a:r>
            <a:endParaRPr sz="1900"/>
          </a:p>
          <a:p>
            <a:pPr indent="-349250" lvl="1" marL="914400" rtl="0" algn="l">
              <a:lnSpc>
                <a:spcPct val="115000"/>
              </a:lnSpc>
              <a:spcBef>
                <a:spcPts val="0"/>
              </a:spcBef>
              <a:spcAft>
                <a:spcPts val="0"/>
              </a:spcAft>
              <a:buSzPts val="1900"/>
              <a:buChar char="○"/>
            </a:pPr>
            <a:r>
              <a:rPr lang="ko" sz="1900">
                <a:latin typeface="Arial"/>
                <a:ea typeface="Arial"/>
                <a:cs typeface="Arial"/>
                <a:sym typeface="Arial"/>
              </a:rPr>
              <a:t>도구를 얼마나 잘 다루는지, 즉 '도구 사용의 기술'에 집중</a:t>
            </a:r>
            <a:endParaRPr sz="1900"/>
          </a:p>
          <a:p>
            <a:pPr indent="-349250" lvl="0" marL="457200" rtl="0" algn="l">
              <a:lnSpc>
                <a:spcPct val="115000"/>
              </a:lnSpc>
              <a:spcBef>
                <a:spcPts val="0"/>
              </a:spcBef>
              <a:spcAft>
                <a:spcPts val="0"/>
              </a:spcAft>
              <a:buSzPts val="1900"/>
              <a:buChar char="●"/>
            </a:pPr>
            <a:r>
              <a:rPr lang="ko" sz="1900"/>
              <a:t>주요 적응 신호</a:t>
            </a:r>
            <a:endParaRPr sz="1900"/>
          </a:p>
          <a:p>
            <a:pPr indent="-349250" lvl="1" marL="914400" rtl="0" algn="l">
              <a:lnSpc>
                <a:spcPct val="115000"/>
              </a:lnSpc>
              <a:spcBef>
                <a:spcPts val="0"/>
              </a:spcBef>
              <a:spcAft>
                <a:spcPts val="0"/>
              </a:spcAft>
              <a:buSzPts val="1900"/>
              <a:buChar char="○"/>
            </a:pPr>
            <a:r>
              <a:rPr lang="ko" sz="1900"/>
              <a:t>코드 실행의 성공/실패, 검색된 문서의 관련성 점수, API 호출 결과 등 검증 가능한 데이터</a:t>
            </a:r>
            <a:endParaRPr sz="1900"/>
          </a:p>
          <a:p>
            <a:pPr indent="0" lvl="0" marL="0" rtl="0" algn="l">
              <a:lnSpc>
                <a:spcPct val="115000"/>
              </a:lnSpc>
              <a:spcBef>
                <a:spcPts val="0"/>
              </a:spcBef>
              <a:spcAft>
                <a:spcPts val="0"/>
              </a:spcAft>
              <a:buNone/>
            </a:pPr>
            <a:r>
              <a:t/>
            </a:r>
            <a:endParaRPr sz="1900"/>
          </a:p>
        </p:txBody>
      </p:sp>
      <p:pic>
        <p:nvPicPr>
          <p:cNvPr id="241" name="Google Shape;241;p47"/>
          <p:cNvPicPr preferRelativeResize="0"/>
          <p:nvPr/>
        </p:nvPicPr>
        <p:blipFill>
          <a:blip r:embed="rId3">
            <a:alphaModFix/>
          </a:blip>
          <a:stretch>
            <a:fillRect/>
          </a:stretch>
        </p:blipFill>
        <p:spPr>
          <a:xfrm>
            <a:off x="1569625" y="817249"/>
            <a:ext cx="5913123" cy="2126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8"/>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패러다임 A2 - 에이전트 출력 신호 기반 에이전트 적응</a:t>
            </a:r>
            <a:endParaRPr sz="2400"/>
          </a:p>
          <a:p>
            <a:pPr indent="0" lvl="0" marL="0" rtl="0" algn="l">
              <a:spcBef>
                <a:spcPts val="0"/>
              </a:spcBef>
              <a:spcAft>
                <a:spcPts val="0"/>
              </a:spcAft>
              <a:buClr>
                <a:schemeClr val="dk1"/>
              </a:buClr>
              <a:buSzPts val="3400"/>
              <a:buFont typeface="Arial"/>
              <a:buNone/>
            </a:pPr>
            <a:r>
              <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47" name="Google Shape;247;p48"/>
          <p:cNvSpPr txBox="1"/>
          <p:nvPr>
            <p:ph idx="1" type="body"/>
          </p:nvPr>
        </p:nvSpPr>
        <p:spPr>
          <a:xfrm>
            <a:off x="266150" y="3017100"/>
            <a:ext cx="8722500" cy="2126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핵심 개념</a:t>
            </a:r>
            <a:endParaRPr sz="1900"/>
          </a:p>
          <a:p>
            <a:pPr indent="-349250" lvl="1" marL="914400" rtl="0" algn="l">
              <a:lnSpc>
                <a:spcPct val="115000"/>
              </a:lnSpc>
              <a:spcBef>
                <a:spcPts val="0"/>
              </a:spcBef>
              <a:spcAft>
                <a:spcPts val="0"/>
              </a:spcAft>
              <a:buSzPts val="1900"/>
              <a:buChar char="○"/>
            </a:pPr>
            <a:r>
              <a:rPr lang="ko" sz="1900"/>
              <a:t>도구 실행 과정보다 </a:t>
            </a:r>
            <a:r>
              <a:rPr lang="ko" sz="1900">
                <a:solidFill>
                  <a:srgbClr val="0000FF"/>
                </a:solidFill>
              </a:rPr>
              <a:t>에이전트의 '최종 출력물</a:t>
            </a:r>
            <a:r>
              <a:rPr lang="ko" sz="1900"/>
              <a:t>'(답변, 계획)의 품질을 기준으로 </a:t>
            </a:r>
            <a:r>
              <a:rPr lang="ko" sz="1900">
                <a:solidFill>
                  <a:srgbClr val="FF0000"/>
                </a:solidFill>
              </a:rPr>
              <a:t>에이전트</a:t>
            </a:r>
            <a:r>
              <a:rPr lang="ko" sz="1900"/>
              <a:t>를 최적화</a:t>
            </a:r>
            <a:endParaRPr sz="1900"/>
          </a:p>
          <a:p>
            <a:pPr indent="-349250" lvl="1" marL="914400" rtl="0" algn="l">
              <a:lnSpc>
                <a:spcPct val="115000"/>
              </a:lnSpc>
              <a:spcBef>
                <a:spcPts val="0"/>
              </a:spcBef>
              <a:spcAft>
                <a:spcPts val="0"/>
              </a:spcAft>
              <a:buSzPts val="1900"/>
              <a:buChar char="○"/>
            </a:pPr>
            <a:r>
              <a:rPr lang="ko" sz="1900">
                <a:latin typeface="Arial"/>
                <a:ea typeface="Arial"/>
                <a:cs typeface="Arial"/>
                <a:sym typeface="Arial"/>
              </a:rPr>
              <a:t>도구를 '언제', '어떻게' 사용할지에 대한 상위 수준의 정책 강화 -&gt; </a:t>
            </a:r>
            <a:br>
              <a:rPr lang="ko" sz="1900">
                <a:latin typeface="Arial"/>
                <a:ea typeface="Arial"/>
                <a:cs typeface="Arial"/>
                <a:sym typeface="Arial"/>
              </a:rPr>
            </a:br>
            <a:r>
              <a:rPr lang="ko" sz="1900">
                <a:latin typeface="Arial"/>
                <a:ea typeface="Arial"/>
                <a:cs typeface="Arial"/>
                <a:sym typeface="Arial"/>
              </a:rPr>
              <a:t>복잡한 워크플로우를 조율하는 오케스트레이션 능력 내재화</a:t>
            </a:r>
            <a:endParaRPr sz="1900"/>
          </a:p>
          <a:p>
            <a:pPr indent="0" lvl="0" marL="0" rtl="0" algn="l">
              <a:lnSpc>
                <a:spcPct val="115000"/>
              </a:lnSpc>
              <a:spcBef>
                <a:spcPts val="0"/>
              </a:spcBef>
              <a:spcAft>
                <a:spcPts val="0"/>
              </a:spcAft>
              <a:buNone/>
            </a:pPr>
            <a:r>
              <a:t/>
            </a:r>
            <a:endParaRPr sz="1900"/>
          </a:p>
        </p:txBody>
      </p:sp>
      <p:pic>
        <p:nvPicPr>
          <p:cNvPr id="248" name="Google Shape;248;p48"/>
          <p:cNvPicPr preferRelativeResize="0"/>
          <p:nvPr/>
        </p:nvPicPr>
        <p:blipFill>
          <a:blip r:embed="rId3">
            <a:alphaModFix/>
          </a:blip>
          <a:stretch>
            <a:fillRect/>
          </a:stretch>
        </p:blipFill>
        <p:spPr>
          <a:xfrm>
            <a:off x="1569625" y="817249"/>
            <a:ext cx="5913123" cy="2126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9"/>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패러다임 T1 - 에이전트 독립적인 도구 적응</a:t>
            </a:r>
            <a:endParaRPr sz="2400"/>
          </a:p>
          <a:p>
            <a:pPr indent="0" lvl="0" marL="0" rtl="0" algn="l">
              <a:spcBef>
                <a:spcPts val="0"/>
              </a:spcBef>
              <a:spcAft>
                <a:spcPts val="0"/>
              </a:spcAft>
              <a:buClr>
                <a:schemeClr val="dk1"/>
              </a:buClr>
              <a:buSzPts val="3400"/>
              <a:buFont typeface="Arial"/>
              <a:buNone/>
            </a:pPr>
            <a:r>
              <a:t/>
            </a:r>
            <a:endParaRPr sz="2400"/>
          </a:p>
          <a:p>
            <a:pPr indent="0" lvl="0" marL="0" rtl="0" algn="l">
              <a:spcBef>
                <a:spcPts val="0"/>
              </a:spcBef>
              <a:spcAft>
                <a:spcPts val="0"/>
              </a:spcAft>
              <a:buClr>
                <a:schemeClr val="dk1"/>
              </a:buClr>
              <a:buSzPts val="3400"/>
              <a:buFont typeface="Arial"/>
              <a:buNone/>
            </a:pPr>
            <a:r>
              <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54" name="Google Shape;254;p49"/>
          <p:cNvSpPr txBox="1"/>
          <p:nvPr>
            <p:ph idx="1" type="body"/>
          </p:nvPr>
        </p:nvSpPr>
        <p:spPr>
          <a:xfrm>
            <a:off x="266150" y="3032454"/>
            <a:ext cx="8722500" cy="2126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핵심 개념</a:t>
            </a:r>
            <a:endParaRPr sz="1900"/>
          </a:p>
          <a:p>
            <a:pPr indent="-349250" lvl="1" marL="914400" rtl="0" algn="l">
              <a:lnSpc>
                <a:spcPct val="115000"/>
              </a:lnSpc>
              <a:spcBef>
                <a:spcPts val="0"/>
              </a:spcBef>
              <a:spcAft>
                <a:spcPts val="0"/>
              </a:spcAft>
              <a:buSzPts val="1900"/>
              <a:buChar char="○"/>
            </a:pPr>
            <a:r>
              <a:rPr lang="ko" sz="1900"/>
              <a:t>에이전트는 건드리지 않고, </a:t>
            </a:r>
            <a:r>
              <a:rPr lang="ko" sz="1900">
                <a:solidFill>
                  <a:srgbClr val="0000FF"/>
                </a:solidFill>
              </a:rPr>
              <a:t>도구의 실행 결과</a:t>
            </a:r>
            <a:r>
              <a:rPr lang="ko" sz="1900"/>
              <a:t>로 </a:t>
            </a:r>
            <a:r>
              <a:rPr lang="ko" sz="1900">
                <a:solidFill>
                  <a:srgbClr val="FF0000"/>
                </a:solidFill>
              </a:rPr>
              <a:t> '도구 자체'</a:t>
            </a:r>
            <a:r>
              <a:rPr lang="ko" sz="1900"/>
              <a:t>를 최적화</a:t>
            </a:r>
            <a:endParaRPr sz="1900"/>
          </a:p>
          <a:p>
            <a:pPr indent="-349250" lvl="1" marL="914400" rtl="0" algn="l">
              <a:lnSpc>
                <a:spcPct val="115000"/>
              </a:lnSpc>
              <a:spcBef>
                <a:spcPts val="0"/>
              </a:spcBef>
              <a:spcAft>
                <a:spcPts val="0"/>
              </a:spcAft>
              <a:buSzPts val="1900"/>
              <a:buChar char="○"/>
            </a:pPr>
            <a:r>
              <a:rPr lang="ko" sz="1900">
                <a:latin typeface="Arial"/>
                <a:ea typeface="Arial"/>
                <a:cs typeface="Arial"/>
                <a:sym typeface="Arial"/>
              </a:rPr>
              <a:t>특정 에이전트에 종속되지 않는 '플러그 앤 플레이' 방식의 모듈형 도구 구축</a:t>
            </a:r>
            <a:endParaRPr sz="1900">
              <a:latin typeface="Arial"/>
              <a:ea typeface="Arial"/>
              <a:cs typeface="Arial"/>
              <a:sym typeface="Arial"/>
            </a:endParaRPr>
          </a:p>
          <a:p>
            <a:pPr indent="-349250" lvl="0" marL="457200" rtl="0" algn="l">
              <a:lnSpc>
                <a:spcPct val="115000"/>
              </a:lnSpc>
              <a:spcBef>
                <a:spcPts val="0"/>
              </a:spcBef>
              <a:spcAft>
                <a:spcPts val="0"/>
              </a:spcAft>
              <a:buSzPts val="1900"/>
              <a:buFont typeface="Arial"/>
              <a:buChar char="●"/>
            </a:pPr>
            <a:r>
              <a:rPr lang="ko" sz="1900"/>
              <a:t>사례</a:t>
            </a:r>
            <a:endParaRPr sz="1900"/>
          </a:p>
          <a:p>
            <a:pPr indent="-349250" lvl="1" marL="914400" rtl="0" algn="l">
              <a:lnSpc>
                <a:spcPct val="115000"/>
              </a:lnSpc>
              <a:spcBef>
                <a:spcPts val="0"/>
              </a:spcBef>
              <a:spcAft>
                <a:spcPts val="0"/>
              </a:spcAft>
              <a:buSzPts val="1900"/>
              <a:buChar char="○"/>
            </a:pPr>
            <a:r>
              <a:rPr lang="ko" sz="1900"/>
              <a:t>시각 모델: 미리 학습된 CLIP, SAM 등을 API로 호출해 사용</a:t>
            </a:r>
            <a:endParaRPr sz="1900"/>
          </a:p>
          <a:p>
            <a:pPr indent="-349250" lvl="1" marL="914400" rtl="0" algn="l">
              <a:lnSpc>
                <a:spcPct val="115000"/>
              </a:lnSpc>
              <a:spcBef>
                <a:spcPts val="0"/>
              </a:spcBef>
              <a:spcAft>
                <a:spcPts val="0"/>
              </a:spcAft>
              <a:buSzPts val="1900"/>
              <a:buChar char="○"/>
            </a:pPr>
            <a:r>
              <a:rPr lang="ko" sz="1900"/>
              <a:t>음성/과학 툴: Whisper, AlphaFold2 등 특정 분야 전용 모델</a:t>
            </a:r>
            <a:endParaRPr sz="1900"/>
          </a:p>
          <a:p>
            <a:pPr indent="0" lvl="0" marL="0" rtl="0" algn="l">
              <a:lnSpc>
                <a:spcPct val="115000"/>
              </a:lnSpc>
              <a:spcBef>
                <a:spcPts val="0"/>
              </a:spcBef>
              <a:spcAft>
                <a:spcPts val="0"/>
              </a:spcAft>
              <a:buNone/>
            </a:pPr>
            <a:r>
              <a:t/>
            </a:r>
            <a:endParaRPr sz="1900">
              <a:latin typeface="Arial"/>
              <a:ea typeface="Arial"/>
              <a:cs typeface="Arial"/>
              <a:sym typeface="Arial"/>
            </a:endParaRPr>
          </a:p>
          <a:p>
            <a:pPr indent="0" lvl="0" marL="0" rtl="0" algn="l">
              <a:lnSpc>
                <a:spcPct val="115000"/>
              </a:lnSpc>
              <a:spcBef>
                <a:spcPts val="0"/>
              </a:spcBef>
              <a:spcAft>
                <a:spcPts val="0"/>
              </a:spcAft>
              <a:buNone/>
            </a:pPr>
            <a:r>
              <a:t/>
            </a:r>
            <a:endParaRPr sz="1900"/>
          </a:p>
        </p:txBody>
      </p:sp>
      <p:pic>
        <p:nvPicPr>
          <p:cNvPr id="255" name="Google Shape;255;p49"/>
          <p:cNvPicPr preferRelativeResize="0"/>
          <p:nvPr/>
        </p:nvPicPr>
        <p:blipFill>
          <a:blip r:embed="rId3">
            <a:alphaModFix/>
          </a:blip>
          <a:stretch>
            <a:fillRect/>
          </a:stretch>
        </p:blipFill>
        <p:spPr>
          <a:xfrm>
            <a:off x="1569625" y="817249"/>
            <a:ext cx="5913123" cy="2126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50"/>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패러다임 T2 - 에이전트 감독형 도구 적응</a:t>
            </a:r>
            <a:endParaRPr sz="2400"/>
          </a:p>
          <a:p>
            <a:pPr indent="0" lvl="0" marL="0" rtl="0" algn="l">
              <a:spcBef>
                <a:spcPts val="0"/>
              </a:spcBef>
              <a:spcAft>
                <a:spcPts val="0"/>
              </a:spcAft>
              <a:buClr>
                <a:schemeClr val="dk1"/>
              </a:buClr>
              <a:buSzPts val="3400"/>
              <a:buFont typeface="Arial"/>
              <a:buNone/>
            </a:pPr>
            <a:r>
              <a:t/>
            </a:r>
            <a:endParaRPr sz="2400"/>
          </a:p>
          <a:p>
            <a:pPr indent="0" lvl="0" marL="0" rtl="0" algn="l">
              <a:spcBef>
                <a:spcPts val="0"/>
              </a:spcBef>
              <a:spcAft>
                <a:spcPts val="0"/>
              </a:spcAft>
              <a:buClr>
                <a:schemeClr val="dk1"/>
              </a:buClr>
              <a:buSzPts val="3400"/>
              <a:buFont typeface="Arial"/>
              <a:buNone/>
            </a:pPr>
            <a:r>
              <a:t/>
            </a:r>
            <a:endParaRPr sz="2400"/>
          </a:p>
          <a:p>
            <a:pPr indent="0" lvl="0" marL="0" rtl="0" algn="l">
              <a:spcBef>
                <a:spcPts val="0"/>
              </a:spcBef>
              <a:spcAft>
                <a:spcPts val="0"/>
              </a:spcAft>
              <a:buClr>
                <a:schemeClr val="dk1"/>
              </a:buClr>
              <a:buSzPts val="3400"/>
              <a:buFont typeface="Arial"/>
              <a:buNone/>
            </a:pPr>
            <a:r>
              <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61" name="Google Shape;261;p50"/>
          <p:cNvSpPr txBox="1"/>
          <p:nvPr>
            <p:ph idx="1" type="body"/>
          </p:nvPr>
        </p:nvSpPr>
        <p:spPr>
          <a:xfrm>
            <a:off x="266150" y="3032454"/>
            <a:ext cx="8722500" cy="2126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핵심 개념</a:t>
            </a:r>
            <a:endParaRPr sz="1900"/>
          </a:p>
          <a:p>
            <a:pPr indent="-349250" lvl="1" marL="914400" rtl="0" algn="l">
              <a:lnSpc>
                <a:spcPct val="115000"/>
              </a:lnSpc>
              <a:spcBef>
                <a:spcPts val="0"/>
              </a:spcBef>
              <a:spcAft>
                <a:spcPts val="0"/>
              </a:spcAft>
              <a:buSzPts val="1900"/>
              <a:buChar char="○"/>
            </a:pPr>
            <a:r>
              <a:rPr lang="ko" sz="1900">
                <a:solidFill>
                  <a:srgbClr val="0000FF"/>
                </a:solidFill>
              </a:rPr>
              <a:t>고정된 에이전트의 피드백</a:t>
            </a:r>
            <a:r>
              <a:rPr lang="ko" sz="1900"/>
              <a:t>을 기반으로 </a:t>
            </a:r>
            <a:r>
              <a:rPr lang="ko" sz="1900">
                <a:solidFill>
                  <a:srgbClr val="FF0000"/>
                </a:solidFill>
              </a:rPr>
              <a:t>작은 서브에이전트(도구)</a:t>
            </a:r>
            <a:r>
              <a:rPr lang="ko" sz="1900"/>
              <a:t>를 훈련</a:t>
            </a:r>
            <a:endParaRPr sz="1900"/>
          </a:p>
          <a:p>
            <a:pPr indent="-349250" lvl="1" marL="914400" rtl="0" algn="l">
              <a:lnSpc>
                <a:spcPct val="115000"/>
              </a:lnSpc>
              <a:spcBef>
                <a:spcPts val="0"/>
              </a:spcBef>
              <a:spcAft>
                <a:spcPts val="0"/>
              </a:spcAft>
              <a:buSzPts val="1900"/>
              <a:buChar char="○"/>
            </a:pPr>
            <a:r>
              <a:rPr lang="ko" sz="1900">
                <a:latin typeface="Arial"/>
                <a:ea typeface="Arial"/>
                <a:cs typeface="Arial"/>
                <a:sym typeface="Arial"/>
              </a:rPr>
              <a:t>도구가 특정 에이전트에 맞게 적응 (Symbiotic Inversion)</a:t>
            </a:r>
            <a:endParaRPr sz="1900">
              <a:latin typeface="Arial"/>
              <a:ea typeface="Arial"/>
              <a:cs typeface="Arial"/>
              <a:sym typeface="Arial"/>
            </a:endParaRPr>
          </a:p>
          <a:p>
            <a:pPr indent="-349250" lvl="0" marL="457200" rtl="0" algn="l">
              <a:lnSpc>
                <a:spcPct val="115000"/>
              </a:lnSpc>
              <a:spcBef>
                <a:spcPts val="0"/>
              </a:spcBef>
              <a:spcAft>
                <a:spcPts val="0"/>
              </a:spcAft>
              <a:buSzPts val="1900"/>
              <a:buFont typeface="Arial"/>
              <a:buChar char="●"/>
            </a:pPr>
            <a:r>
              <a:rPr lang="ko" sz="1900"/>
              <a:t>혁신</a:t>
            </a:r>
            <a:endParaRPr sz="1900"/>
          </a:p>
          <a:p>
            <a:pPr indent="-349250" lvl="1" marL="914400" rtl="0" algn="l">
              <a:lnSpc>
                <a:spcPct val="115000"/>
              </a:lnSpc>
              <a:spcBef>
                <a:spcPts val="0"/>
              </a:spcBef>
              <a:spcAft>
                <a:spcPts val="0"/>
              </a:spcAft>
              <a:buSzPts val="1900"/>
              <a:buChar char="○"/>
            </a:pPr>
            <a:r>
              <a:rPr lang="ko" sz="1900"/>
              <a:t>데이터 효율성 - s3의 경우 A2 방식보다 약 70배 적은 데이터로 동등한 성능 달성</a:t>
            </a:r>
            <a:endParaRPr sz="1900"/>
          </a:p>
          <a:p>
            <a:pPr indent="-349250" lvl="1" marL="914400" rtl="0" algn="l">
              <a:lnSpc>
                <a:spcPct val="115000"/>
              </a:lnSpc>
              <a:spcBef>
                <a:spcPts val="0"/>
              </a:spcBef>
              <a:spcAft>
                <a:spcPts val="0"/>
              </a:spcAft>
              <a:buSzPts val="1900"/>
              <a:buChar char="○"/>
            </a:pPr>
            <a:r>
              <a:rPr lang="ko" sz="1900"/>
              <a:t>메인 모델을 재학습시키지 않아도 되어 비용이 저렴하고 '파괴적 망각'이 없음</a:t>
            </a:r>
            <a:endParaRPr sz="1900"/>
          </a:p>
          <a:p>
            <a:pPr indent="0" lvl="0" marL="0" rtl="0" algn="l">
              <a:lnSpc>
                <a:spcPct val="115000"/>
              </a:lnSpc>
              <a:spcBef>
                <a:spcPts val="0"/>
              </a:spcBef>
              <a:spcAft>
                <a:spcPts val="0"/>
              </a:spcAft>
              <a:buNone/>
            </a:pPr>
            <a:r>
              <a:t/>
            </a:r>
            <a:endParaRPr sz="1900">
              <a:latin typeface="Arial"/>
              <a:ea typeface="Arial"/>
              <a:cs typeface="Arial"/>
              <a:sym typeface="Arial"/>
            </a:endParaRPr>
          </a:p>
          <a:p>
            <a:pPr indent="0" lvl="0" marL="0" rtl="0" algn="l">
              <a:lnSpc>
                <a:spcPct val="115000"/>
              </a:lnSpc>
              <a:spcBef>
                <a:spcPts val="0"/>
              </a:spcBef>
              <a:spcAft>
                <a:spcPts val="0"/>
              </a:spcAft>
              <a:buNone/>
            </a:pPr>
            <a:r>
              <a:t/>
            </a:r>
            <a:endParaRPr sz="1900"/>
          </a:p>
        </p:txBody>
      </p:sp>
      <p:pic>
        <p:nvPicPr>
          <p:cNvPr id="262" name="Google Shape;262;p50"/>
          <p:cNvPicPr preferRelativeResize="0"/>
          <p:nvPr/>
        </p:nvPicPr>
        <p:blipFill>
          <a:blip r:embed="rId3">
            <a:alphaModFix/>
          </a:blip>
          <a:stretch>
            <a:fillRect/>
          </a:stretch>
        </p:blipFill>
        <p:spPr>
          <a:xfrm>
            <a:off x="1569625" y="817249"/>
            <a:ext cx="5913123" cy="2126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1"/>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패러다임 적용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52"/>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A1 - 도구 실행 신호 기반 에이전트 적응</a:t>
            </a:r>
            <a:endParaRPr sz="2400"/>
          </a:p>
        </p:txBody>
      </p:sp>
      <p:sp>
        <p:nvSpPr>
          <p:cNvPr id="273" name="Google Shape;273;p52"/>
          <p:cNvSpPr txBox="1"/>
          <p:nvPr>
            <p:ph idx="1" type="body"/>
          </p:nvPr>
        </p:nvSpPr>
        <p:spPr>
          <a:xfrm>
            <a:off x="3519075" y="744150"/>
            <a:ext cx="5447400" cy="4322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ToolFormer (</a:t>
            </a:r>
            <a:r>
              <a:rPr lang="ko" sz="2000" u="sng">
                <a:solidFill>
                  <a:schemeClr val="hlink"/>
                </a:solidFill>
                <a:hlinkClick r:id="rId3"/>
              </a:rPr>
              <a:t>https://arxiv.org/pdf/2302.04761</a:t>
            </a:r>
            <a:r>
              <a:rPr lang="ko" sz="2000"/>
              <a:t>)</a:t>
            </a:r>
            <a:endParaRPr sz="2000"/>
          </a:p>
          <a:p>
            <a:pPr indent="0" lvl="0" marL="0" rtl="0" algn="l">
              <a:lnSpc>
                <a:spcPct val="115000"/>
              </a:lnSpc>
              <a:spcBef>
                <a:spcPts val="0"/>
              </a:spcBef>
              <a:spcAft>
                <a:spcPts val="0"/>
              </a:spcAft>
              <a:buNone/>
            </a:pPr>
            <a:r>
              <a:t/>
            </a:r>
            <a:endParaRPr sz="2000"/>
          </a:p>
          <a:p>
            <a:pPr indent="-355600" lvl="0" marL="457200" rtl="0" algn="l">
              <a:lnSpc>
                <a:spcPct val="115000"/>
              </a:lnSpc>
              <a:spcBef>
                <a:spcPts val="0"/>
              </a:spcBef>
              <a:spcAft>
                <a:spcPts val="0"/>
              </a:spcAft>
              <a:buSzPts val="2000"/>
              <a:buAutoNum type="arabicPeriod"/>
            </a:pPr>
            <a:r>
              <a:rPr lang="ko" sz="2000"/>
              <a:t>모델이 API 호출(도구) 유도하는 예시(Demonstrations)가 포함된 프롬프트 P(x)를 작성.</a:t>
            </a:r>
            <a:endParaRPr sz="2000"/>
          </a:p>
          <a:p>
            <a:pPr indent="-355600" lvl="0" marL="457200" rtl="0" algn="l">
              <a:lnSpc>
                <a:spcPct val="115000"/>
              </a:lnSpc>
              <a:spcBef>
                <a:spcPts val="0"/>
              </a:spcBef>
              <a:spcAft>
                <a:spcPts val="0"/>
              </a:spcAft>
              <a:buSzPts val="2000"/>
              <a:buAutoNum type="arabicPeriod"/>
            </a:pPr>
            <a:r>
              <a:rPr lang="ko" sz="2000"/>
              <a:t>API 호출 결과 를 포함했을 때(L)와 포함하지 않았을 때의 손실값(L-) 을 비교.</a:t>
            </a:r>
            <a:endParaRPr sz="2000"/>
          </a:p>
          <a:p>
            <a:pPr indent="-355600" lvl="0" marL="457200" rtl="0" algn="l">
              <a:lnSpc>
                <a:spcPct val="115000"/>
              </a:lnSpc>
              <a:spcBef>
                <a:spcPts val="0"/>
              </a:spcBef>
              <a:spcAft>
                <a:spcPts val="0"/>
              </a:spcAft>
              <a:buSzPts val="2000"/>
              <a:buAutoNum type="arabicPeriod"/>
            </a:pPr>
            <a:r>
              <a:rPr lang="ko" sz="2000"/>
              <a:t>도구 결과가 들어갔을 때의 </a:t>
            </a:r>
            <a:r>
              <a:rPr lang="ko" sz="2000"/>
              <a:t>Perplexity가 기준 </a:t>
            </a:r>
            <a:r>
              <a:rPr lang="ko" sz="2000"/>
              <a:t>이상으로 감소하는 경우에만 해당 호출을 '유용한 것'으로 간주하고 유지</a:t>
            </a:r>
            <a:endParaRPr sz="2000"/>
          </a:p>
          <a:p>
            <a:pPr indent="0" lvl="0" marL="0" rtl="0" algn="l">
              <a:lnSpc>
                <a:spcPct val="115000"/>
              </a:lnSpc>
              <a:spcBef>
                <a:spcPts val="0"/>
              </a:spcBef>
              <a:spcAft>
                <a:spcPts val="0"/>
              </a:spcAft>
              <a:buNone/>
            </a:pPr>
            <a:r>
              <a:t/>
            </a:r>
            <a:endParaRPr sz="2000"/>
          </a:p>
        </p:txBody>
      </p:sp>
      <p:pic>
        <p:nvPicPr>
          <p:cNvPr id="274" name="Google Shape;274;p52"/>
          <p:cNvPicPr preferRelativeResize="0"/>
          <p:nvPr/>
        </p:nvPicPr>
        <p:blipFill>
          <a:blip r:embed="rId4">
            <a:alphaModFix/>
          </a:blip>
          <a:stretch>
            <a:fillRect/>
          </a:stretch>
        </p:blipFill>
        <p:spPr>
          <a:xfrm>
            <a:off x="361750" y="732094"/>
            <a:ext cx="3041259" cy="422828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53"/>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A1 - 도구 실행 신호 기반 에이전트 적응</a:t>
            </a:r>
            <a:endParaRPr sz="2400"/>
          </a:p>
        </p:txBody>
      </p:sp>
      <p:sp>
        <p:nvSpPr>
          <p:cNvPr id="280" name="Google Shape;280;p53"/>
          <p:cNvSpPr txBox="1"/>
          <p:nvPr>
            <p:ph idx="1" type="body"/>
          </p:nvPr>
        </p:nvSpPr>
        <p:spPr>
          <a:xfrm>
            <a:off x="125900" y="3250525"/>
            <a:ext cx="8825400" cy="1693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1800"/>
              <a:t>DeepRetriever </a:t>
            </a:r>
            <a:r>
              <a:rPr lang="ko" sz="1800"/>
              <a:t>(</a:t>
            </a:r>
            <a:r>
              <a:rPr lang="ko" sz="1800" u="sng">
                <a:solidFill>
                  <a:schemeClr val="hlink"/>
                </a:solidFill>
                <a:hlinkClick r:id="rId3"/>
              </a:rPr>
              <a:t>https://arxiv.org/pdf/2503.00223</a:t>
            </a:r>
            <a:r>
              <a:rPr lang="ko" sz="1800"/>
              <a:t>)</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rPr lang="ko" sz="1800"/>
              <a:t>강화학습(RL)을 통해 언어 모델(LLM)을 최적의 '쿼리 생성기'로 훈련시켜 정보 검색(IR) 성능을 극대화하는 것.</a:t>
            </a:r>
            <a:br>
              <a:rPr lang="ko" sz="1800"/>
            </a:br>
            <a:r>
              <a:rPr lang="ko" sz="1800"/>
              <a:t>생성된 쿼리가 가져온 문서의 Recall@K나 NDCG 같은 검색 지표를 보상으로 삼아 에이전트를 학습시킵니다.</a:t>
            </a:r>
            <a:endParaRPr sz="1800"/>
          </a:p>
        </p:txBody>
      </p:sp>
      <p:pic>
        <p:nvPicPr>
          <p:cNvPr id="281" name="Google Shape;281;p53"/>
          <p:cNvPicPr preferRelativeResize="0"/>
          <p:nvPr/>
        </p:nvPicPr>
        <p:blipFill>
          <a:blip r:embed="rId4">
            <a:alphaModFix/>
          </a:blip>
          <a:stretch>
            <a:fillRect/>
          </a:stretch>
        </p:blipFill>
        <p:spPr>
          <a:xfrm>
            <a:off x="1392200" y="836226"/>
            <a:ext cx="5825800" cy="2188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4"/>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A2 - 에이전트 출력 신호 기반 에이전트 적응</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87" name="Google Shape;287;p54"/>
          <p:cNvSpPr txBox="1"/>
          <p:nvPr>
            <p:ph idx="1" type="body"/>
          </p:nvPr>
        </p:nvSpPr>
        <p:spPr>
          <a:xfrm>
            <a:off x="125900" y="3250525"/>
            <a:ext cx="8825400" cy="1693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1600"/>
              <a:t>DeepSeek-R1(https://arxiv.org/pdf/2501.12948), Search-R1(https://arxiv.org/pdf/2503.09516)</a:t>
            </a:r>
            <a:endParaRPr sz="16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rPr lang="ko" sz="1800"/>
              <a:t>검증 가능한 보상 기반 강화학습(RLVR)을 통해 LLM의 내재적 추론 능력 강화</a:t>
            </a:r>
            <a:endParaRPr sz="1800"/>
          </a:p>
          <a:p>
            <a:pPr indent="0" lvl="0" marL="0" rtl="0" algn="l">
              <a:lnSpc>
                <a:spcPct val="115000"/>
              </a:lnSpc>
              <a:spcBef>
                <a:spcPts val="0"/>
              </a:spcBef>
              <a:spcAft>
                <a:spcPts val="0"/>
              </a:spcAft>
              <a:buNone/>
            </a:pPr>
            <a:r>
              <a:rPr lang="ko" sz="1800"/>
              <a:t>추론 과정 자체에 제약을 두지 않고, 정답에 대한 최종 예측의 정확성 에만 전적으로 보상을 기초</a:t>
            </a:r>
            <a:endParaRPr sz="1800"/>
          </a:p>
        </p:txBody>
      </p:sp>
      <p:pic>
        <p:nvPicPr>
          <p:cNvPr id="288" name="Google Shape;288;p54"/>
          <p:cNvPicPr preferRelativeResize="0"/>
          <p:nvPr/>
        </p:nvPicPr>
        <p:blipFill>
          <a:blip r:embed="rId3">
            <a:alphaModFix/>
          </a:blip>
          <a:stretch>
            <a:fillRect/>
          </a:stretch>
        </p:blipFill>
        <p:spPr>
          <a:xfrm>
            <a:off x="1639450" y="734988"/>
            <a:ext cx="5627576" cy="2390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5"/>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패러다임 T1 - 에이전트 독립적인 도구 적응</a:t>
            </a:r>
            <a:endParaRPr sz="2400"/>
          </a:p>
          <a:p>
            <a:pPr indent="0" lvl="0" marL="0" rtl="0" algn="l">
              <a:spcBef>
                <a:spcPts val="0"/>
              </a:spcBef>
              <a:spcAft>
                <a:spcPts val="0"/>
              </a:spcAft>
              <a:buClr>
                <a:schemeClr val="dk1"/>
              </a:buClr>
              <a:buSzPts val="3400"/>
              <a:buFont typeface="Arial"/>
              <a:buNone/>
            </a:pPr>
            <a:r>
              <a:t/>
            </a:r>
            <a:endParaRPr sz="2400"/>
          </a:p>
          <a:p>
            <a:pPr indent="0" lvl="0" marL="0" rtl="0" algn="l">
              <a:spcBef>
                <a:spcPts val="0"/>
              </a:spcBef>
              <a:spcAft>
                <a:spcPts val="0"/>
              </a:spcAft>
              <a:buClr>
                <a:schemeClr val="dk1"/>
              </a:buClr>
              <a:buSzPts val="3400"/>
              <a:buFont typeface="Arial"/>
              <a:buNone/>
            </a:pPr>
            <a:r>
              <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94" name="Google Shape;294;p55"/>
          <p:cNvSpPr txBox="1"/>
          <p:nvPr>
            <p:ph idx="1" type="body"/>
          </p:nvPr>
        </p:nvSpPr>
        <p:spPr>
          <a:xfrm>
            <a:off x="266150" y="982646"/>
            <a:ext cx="8722500" cy="41763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CLIP(https://arxiv.org/pdf/2103.00020)</a:t>
            </a:r>
            <a:endParaRPr sz="1900"/>
          </a:p>
          <a:p>
            <a:pPr indent="-349250" lvl="1" marL="914400" rtl="0" algn="l">
              <a:lnSpc>
                <a:spcPct val="115000"/>
              </a:lnSpc>
              <a:spcBef>
                <a:spcPts val="0"/>
              </a:spcBef>
              <a:spcAft>
                <a:spcPts val="0"/>
              </a:spcAft>
              <a:buSzPts val="1900"/>
              <a:buChar char="○"/>
            </a:pPr>
            <a:r>
              <a:rPr lang="ko" sz="1900"/>
              <a:t>인터넷에서 수집한 4억 개의 (이미지, 텍스트) 쌍을 사용하여 대규모 대조 학습을 통해 처음부터 끝까지 독립적으로 훈련</a:t>
            </a:r>
            <a:endParaRPr sz="1900"/>
          </a:p>
          <a:p>
            <a:pPr indent="-349250" lvl="1" marL="914400" rtl="0" algn="l">
              <a:lnSpc>
                <a:spcPct val="115000"/>
              </a:lnSpc>
              <a:spcBef>
                <a:spcPts val="0"/>
              </a:spcBef>
              <a:spcAft>
                <a:spcPts val="0"/>
              </a:spcAft>
              <a:buSzPts val="1900"/>
              <a:buChar char="○"/>
            </a:pPr>
            <a:r>
              <a:rPr lang="ko" sz="1900"/>
              <a:t>별도의 추가 훈련 없이 바로 호출하여 사용할 수 있는 '플러그 앤 플레이(Plug-and-play)' 지원</a:t>
            </a:r>
            <a:endParaRPr sz="1900"/>
          </a:p>
          <a:p>
            <a:pPr indent="-349250" lvl="0" marL="457200" rtl="0" algn="l">
              <a:lnSpc>
                <a:spcPct val="115000"/>
              </a:lnSpc>
              <a:spcBef>
                <a:spcPts val="0"/>
              </a:spcBef>
              <a:spcAft>
                <a:spcPts val="0"/>
              </a:spcAft>
              <a:buSzPts val="1900"/>
              <a:buFont typeface="Arial"/>
              <a:buChar char="●"/>
            </a:pPr>
            <a:r>
              <a:rPr lang="ko" sz="1900"/>
              <a:t>Whisper(https://arxiv.org/pdf/2212.04356)</a:t>
            </a:r>
            <a:endParaRPr sz="1900"/>
          </a:p>
          <a:p>
            <a:pPr indent="-349250" lvl="1" marL="914400" rtl="0" algn="l">
              <a:lnSpc>
                <a:spcPct val="115000"/>
              </a:lnSpc>
              <a:spcBef>
                <a:spcPts val="0"/>
              </a:spcBef>
              <a:spcAft>
                <a:spcPts val="0"/>
              </a:spcAft>
              <a:buSzPts val="1900"/>
              <a:buChar char="○"/>
            </a:pPr>
            <a:r>
              <a:rPr lang="ko" sz="1900"/>
              <a:t>68만 시간의 다국어 전사 데이터를 통한 약지도 학습(Weak Supervision) 수행.</a:t>
            </a:r>
            <a:endParaRPr sz="1900"/>
          </a:p>
          <a:p>
            <a:pPr indent="-349250" lvl="1" marL="914400" rtl="0" algn="l">
              <a:lnSpc>
                <a:spcPct val="115000"/>
              </a:lnSpc>
              <a:spcBef>
                <a:spcPts val="0"/>
              </a:spcBef>
              <a:spcAft>
                <a:spcPts val="0"/>
              </a:spcAft>
              <a:buSzPts val="1900"/>
              <a:buChar char="○"/>
            </a:pPr>
            <a:r>
              <a:rPr lang="ko" sz="1900"/>
              <a:t>API 형태로 음성 인식(ASR), 번역, 언어 식별 결과를 에이전트에게 제공</a:t>
            </a:r>
            <a:endParaRPr sz="1900"/>
          </a:p>
          <a:p>
            <a:pPr indent="0" lvl="0" marL="0" rtl="0" algn="l">
              <a:lnSpc>
                <a:spcPct val="115000"/>
              </a:lnSpc>
              <a:spcBef>
                <a:spcPts val="0"/>
              </a:spcBef>
              <a:spcAft>
                <a:spcPts val="0"/>
              </a:spcAft>
              <a:buNone/>
            </a:pPr>
            <a:r>
              <a:t/>
            </a:r>
            <a:endParaRPr sz="1900">
              <a:latin typeface="Arial"/>
              <a:ea typeface="Arial"/>
              <a:cs typeface="Arial"/>
              <a:sym typeface="Arial"/>
            </a:endParaRPr>
          </a:p>
          <a:p>
            <a:pPr indent="0" lvl="0" marL="0" rtl="0" algn="l">
              <a:lnSpc>
                <a:spcPct val="115000"/>
              </a:lnSpc>
              <a:spcBef>
                <a:spcPts val="0"/>
              </a:spcBef>
              <a:spcAft>
                <a:spcPts val="0"/>
              </a:spcAft>
              <a:buNone/>
            </a:pPr>
            <a:r>
              <a:t/>
            </a:r>
            <a:endParaRPr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6"/>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T2 - 에이전트 감독형 도구 적응</a:t>
            </a:r>
            <a:endParaRPr sz="2400"/>
          </a:p>
        </p:txBody>
      </p:sp>
      <p:sp>
        <p:nvSpPr>
          <p:cNvPr id="300" name="Google Shape;300;p56"/>
          <p:cNvSpPr txBox="1"/>
          <p:nvPr>
            <p:ph idx="1" type="body"/>
          </p:nvPr>
        </p:nvSpPr>
        <p:spPr>
          <a:xfrm>
            <a:off x="3519075" y="744150"/>
            <a:ext cx="5447400" cy="4322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S3</a:t>
            </a:r>
            <a:r>
              <a:rPr lang="ko" sz="2000"/>
              <a:t> (</a:t>
            </a:r>
            <a:r>
              <a:rPr lang="ko" sz="2000"/>
              <a:t>https://arxiv.org/pdf/2505.14146</a:t>
            </a:r>
            <a:r>
              <a:rPr lang="ko" sz="2000"/>
              <a:t>)</a:t>
            </a:r>
            <a:endParaRPr sz="2000"/>
          </a:p>
          <a:p>
            <a:pPr indent="0" lvl="0" marL="0" rtl="0" algn="l">
              <a:lnSpc>
                <a:spcPct val="115000"/>
              </a:lnSpc>
              <a:spcBef>
                <a:spcPts val="0"/>
              </a:spcBef>
              <a:spcAft>
                <a:spcPts val="0"/>
              </a:spcAft>
              <a:buNone/>
            </a:pPr>
            <a:r>
              <a:t/>
            </a:r>
            <a:endParaRPr sz="2000"/>
          </a:p>
          <a:p>
            <a:pPr indent="-349250" lvl="0" marL="457200" rtl="0" algn="l">
              <a:lnSpc>
                <a:spcPct val="115000"/>
              </a:lnSpc>
              <a:spcBef>
                <a:spcPts val="0"/>
              </a:spcBef>
              <a:spcAft>
                <a:spcPts val="0"/>
              </a:spcAft>
              <a:buSzPts val="1900"/>
              <a:buAutoNum type="arabicPeriod"/>
            </a:pPr>
            <a:r>
              <a:rPr lang="ko" sz="1900"/>
              <a:t>s3는 지식을 생성하는 '생성기(Generator LLM)'를 동결(Frozen) 상태로 두고, 오직 쿼리를 생성하고 문서를 선택하는 '검색기(Searcher tool)' 모델만 강화학습</a:t>
            </a:r>
            <a:endParaRPr sz="1900"/>
          </a:p>
          <a:p>
            <a:pPr indent="-349250" lvl="0" marL="457200" rtl="0" algn="l">
              <a:lnSpc>
                <a:spcPct val="115000"/>
              </a:lnSpc>
              <a:spcBef>
                <a:spcPts val="0"/>
              </a:spcBef>
              <a:spcAft>
                <a:spcPts val="0"/>
              </a:spcAft>
              <a:buSzPts val="1900"/>
              <a:buAutoNum type="arabicPeriod"/>
            </a:pPr>
            <a:r>
              <a:rPr lang="ko" sz="1900"/>
              <a:t>'기본 RAG(Naive RAG)' 성능을 베이스라인으로 삼고, 검색 에이전트가 추가로 가져온 정보 덕분에 정확도가 얼마나 '상승'했는지(Gain Beyond RAG)만을 측정하여 보상 </a:t>
            </a:r>
            <a:endParaRPr sz="1900"/>
          </a:p>
          <a:p>
            <a:pPr indent="-349250" lvl="0" marL="457200" rtl="0" algn="l">
              <a:lnSpc>
                <a:spcPct val="115000"/>
              </a:lnSpc>
              <a:spcBef>
                <a:spcPts val="0"/>
              </a:spcBef>
              <a:spcAft>
                <a:spcPts val="0"/>
              </a:spcAft>
              <a:buSzPts val="1900"/>
              <a:buAutoNum type="arabicPeriod"/>
            </a:pPr>
            <a:r>
              <a:rPr lang="ko" sz="1900"/>
              <a:t>에이전트 전체를 가르칠 때보다 데이터를 무려 </a:t>
            </a:r>
            <a:r>
              <a:rPr b="1" lang="ko" sz="1900">
                <a:solidFill>
                  <a:srgbClr val="0000FF"/>
                </a:solidFill>
              </a:rPr>
              <a:t>70배나 적게 쓰고도 대등하거나 더 뛰어난 성능</a:t>
            </a:r>
            <a:endParaRPr b="1" sz="1900">
              <a:solidFill>
                <a:srgbClr val="0000FF"/>
              </a:solidFill>
            </a:endParaRPr>
          </a:p>
          <a:p>
            <a:pPr indent="0" lvl="0" marL="0" rtl="0" algn="l">
              <a:lnSpc>
                <a:spcPct val="115000"/>
              </a:lnSpc>
              <a:spcBef>
                <a:spcPts val="0"/>
              </a:spcBef>
              <a:spcAft>
                <a:spcPts val="0"/>
              </a:spcAft>
              <a:buNone/>
            </a:pPr>
            <a:r>
              <a:t/>
            </a:r>
            <a:endParaRPr sz="1900"/>
          </a:p>
        </p:txBody>
      </p:sp>
      <p:pic>
        <p:nvPicPr>
          <p:cNvPr id="301" name="Google Shape;301;p56"/>
          <p:cNvPicPr preferRelativeResize="0"/>
          <p:nvPr/>
        </p:nvPicPr>
        <p:blipFill>
          <a:blip r:embed="rId3">
            <a:alphaModFix/>
          </a:blip>
          <a:stretch>
            <a:fillRect/>
          </a:stretch>
        </p:blipFill>
        <p:spPr>
          <a:xfrm>
            <a:off x="198475" y="810781"/>
            <a:ext cx="3214276" cy="352192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7"/>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T2 - 에이전트 감독형 도구 적응</a:t>
            </a:r>
            <a:endParaRPr sz="2400"/>
          </a:p>
        </p:txBody>
      </p:sp>
      <p:pic>
        <p:nvPicPr>
          <p:cNvPr id="307" name="Google Shape;307;p57"/>
          <p:cNvPicPr preferRelativeResize="0"/>
          <p:nvPr/>
        </p:nvPicPr>
        <p:blipFill>
          <a:blip r:embed="rId3">
            <a:alphaModFix/>
          </a:blip>
          <a:stretch>
            <a:fillRect/>
          </a:stretch>
        </p:blipFill>
        <p:spPr>
          <a:xfrm>
            <a:off x="361750" y="884461"/>
            <a:ext cx="6964325" cy="3374575"/>
          </a:xfrm>
          <a:prstGeom prst="rect">
            <a:avLst/>
          </a:prstGeom>
          <a:noFill/>
          <a:ln>
            <a:noFill/>
          </a:ln>
        </p:spPr>
      </p:pic>
      <p:sp>
        <p:nvSpPr>
          <p:cNvPr id="308" name="Google Shape;308;p57"/>
          <p:cNvSpPr/>
          <p:nvPr/>
        </p:nvSpPr>
        <p:spPr>
          <a:xfrm>
            <a:off x="3838425" y="798400"/>
            <a:ext cx="4053300" cy="365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57"/>
          <p:cNvSpPr txBox="1"/>
          <p:nvPr>
            <p:ph idx="1" type="body"/>
          </p:nvPr>
        </p:nvSpPr>
        <p:spPr>
          <a:xfrm>
            <a:off x="3838425" y="798400"/>
            <a:ext cx="5447400" cy="4322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Reflextion</a:t>
            </a:r>
            <a:r>
              <a:rPr lang="ko" sz="2000"/>
              <a:t> (</a:t>
            </a:r>
            <a:r>
              <a:rPr lang="ko" sz="2000"/>
              <a:t>https://arxiv.org/pdf/2303.11366</a:t>
            </a:r>
            <a:r>
              <a:rPr lang="ko" sz="2000"/>
              <a:t>)</a:t>
            </a:r>
            <a:endParaRPr sz="2000"/>
          </a:p>
          <a:p>
            <a:pPr indent="0" lvl="0" marL="0" rtl="0" algn="l">
              <a:lnSpc>
                <a:spcPct val="115000"/>
              </a:lnSpc>
              <a:spcBef>
                <a:spcPts val="0"/>
              </a:spcBef>
              <a:spcAft>
                <a:spcPts val="0"/>
              </a:spcAft>
              <a:buNone/>
            </a:pPr>
            <a:r>
              <a:t/>
            </a:r>
            <a:endParaRPr sz="2000"/>
          </a:p>
          <a:p>
            <a:pPr indent="-349250" lvl="0" marL="457200" rtl="0" algn="l">
              <a:lnSpc>
                <a:spcPct val="115000"/>
              </a:lnSpc>
              <a:spcBef>
                <a:spcPts val="0"/>
              </a:spcBef>
              <a:spcAft>
                <a:spcPts val="0"/>
              </a:spcAft>
              <a:buSzPts val="1900"/>
              <a:buAutoNum type="arabicPeriod"/>
            </a:pPr>
            <a:r>
              <a:rPr lang="ko" sz="1900"/>
              <a:t>언어적 반성 (Self-Reflection): 자가 반성 모델은 실패한 궤적과 평가 신호를 분석하여, "어느 지점에서 실수가 발생했는지"와 "다음에는 어떻게 개선해야 하는지"를 자연어 텍스트로 요약</a:t>
            </a:r>
            <a:endParaRPr sz="1900"/>
          </a:p>
          <a:p>
            <a:pPr indent="-349250" lvl="0" marL="457200" rtl="0" algn="l">
              <a:lnSpc>
                <a:spcPct val="115000"/>
              </a:lnSpc>
              <a:spcBef>
                <a:spcPts val="0"/>
              </a:spcBef>
              <a:spcAft>
                <a:spcPts val="0"/>
              </a:spcAft>
              <a:buSzPts val="1900"/>
              <a:buAutoNum type="arabicPeriod"/>
            </a:pPr>
            <a:r>
              <a:rPr lang="ko" sz="1900"/>
              <a:t>반성 텍스트는 장기 메모리(Long-term memory) 에 저장된 다음 시도(Trial)에서 에이전트는 이전에 저장된 반성 내용들을 자신의 프롬프트 문맥(Context)으로 주입</a:t>
            </a:r>
            <a:endParaRPr sz="1900"/>
          </a:p>
          <a:p>
            <a:pPr indent="0" lvl="0" marL="0" rtl="0" algn="l">
              <a:lnSpc>
                <a:spcPct val="115000"/>
              </a:lnSpc>
              <a:spcBef>
                <a:spcPts val="0"/>
              </a:spcBef>
              <a:spcAft>
                <a:spcPts val="0"/>
              </a:spcAft>
              <a:buNone/>
            </a:pPr>
            <a:r>
              <a:t/>
            </a:r>
            <a:endParaRPr sz="1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8"/>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패러다임 </a:t>
            </a:r>
            <a:r>
              <a:rPr lang="ko"/>
              <a:t>비교</a:t>
            </a:r>
            <a:r>
              <a:rPr lang="ko"/>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9"/>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비교 분석 I - 비용과 효율성</a:t>
            </a:r>
            <a:endParaRPr sz="2400"/>
          </a:p>
        </p:txBody>
      </p:sp>
      <p:sp>
        <p:nvSpPr>
          <p:cNvPr id="320" name="Google Shape;320;p59"/>
          <p:cNvSpPr txBox="1"/>
          <p:nvPr>
            <p:ph idx="1" type="body"/>
          </p:nvPr>
        </p:nvSpPr>
        <p:spPr>
          <a:xfrm>
            <a:off x="386925" y="756849"/>
            <a:ext cx="8129700" cy="43866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ko" sz="1800"/>
              <a:t>비용 및 유연성 (Cost and Flexibility)</a:t>
            </a:r>
            <a:endParaRPr sz="1800"/>
          </a:p>
          <a:p>
            <a:pPr indent="-342900" lvl="1" marL="914400" rtl="0" algn="l">
              <a:lnSpc>
                <a:spcPct val="115000"/>
              </a:lnSpc>
              <a:spcBef>
                <a:spcPts val="0"/>
              </a:spcBef>
              <a:spcAft>
                <a:spcPts val="0"/>
              </a:spcAft>
              <a:buSzPts val="1800"/>
              <a:buChar char="○"/>
            </a:pPr>
            <a:r>
              <a:rPr lang="ko" sz="1800"/>
              <a:t>에이전트 적응(A1, A2)은 수십억 개의 파라미터를 가진 모델을 훈련해야 하므로 막대한 컴퓨팅 자원과 엔지니어링 노력이 필요</a:t>
            </a:r>
            <a:endParaRPr sz="1800"/>
          </a:p>
          <a:p>
            <a:pPr indent="-342900" lvl="1" marL="914400" rtl="0" algn="l">
              <a:lnSpc>
                <a:spcPct val="115000"/>
              </a:lnSpc>
              <a:spcBef>
                <a:spcPts val="0"/>
              </a:spcBef>
              <a:spcAft>
                <a:spcPts val="0"/>
              </a:spcAft>
              <a:buSzPts val="1800"/>
              <a:buChar char="○"/>
            </a:pPr>
            <a:r>
              <a:rPr lang="ko" sz="1800"/>
              <a:t>반면 도구 적응(T1, T2)은 상대적으로 크기가 작은 외부 모듈만 최적화하므로 비용이 저렴.</a:t>
            </a:r>
            <a:endParaRPr sz="1800"/>
          </a:p>
          <a:p>
            <a:pPr indent="-342900" lvl="1" marL="914400" rtl="0" algn="l">
              <a:lnSpc>
                <a:spcPct val="115000"/>
              </a:lnSpc>
              <a:spcBef>
                <a:spcPts val="0"/>
              </a:spcBef>
              <a:spcAft>
                <a:spcPts val="0"/>
              </a:spcAft>
              <a:buSzPts val="1800"/>
              <a:buChar char="○"/>
            </a:pPr>
            <a:r>
              <a:rPr lang="ko" sz="1800"/>
              <a:t>A1/A2는 에이전트의 정책 자체를 완전히 바꿀 수 있는 높은 '파라미터 유연성(Parametric Flexibility)'을 제공 가능</a:t>
            </a:r>
            <a:endParaRPr sz="1800"/>
          </a:p>
          <a:p>
            <a:pPr indent="-342900" lvl="0" marL="457200" rtl="0" algn="l">
              <a:lnSpc>
                <a:spcPct val="115000"/>
              </a:lnSpc>
              <a:spcBef>
                <a:spcPts val="0"/>
              </a:spcBef>
              <a:spcAft>
                <a:spcPts val="0"/>
              </a:spcAft>
              <a:buSzPts val="1800"/>
              <a:buChar char="●"/>
            </a:pPr>
            <a:r>
              <a:rPr lang="ko" sz="1800"/>
              <a:t>데이터 효율성 (Data Efficiency)</a:t>
            </a:r>
            <a:endParaRPr sz="1800"/>
          </a:p>
          <a:p>
            <a:pPr indent="-342900" lvl="1" marL="914400" rtl="0" algn="l">
              <a:lnSpc>
                <a:spcPct val="115000"/>
              </a:lnSpc>
              <a:spcBef>
                <a:spcPts val="0"/>
              </a:spcBef>
              <a:spcAft>
                <a:spcPts val="0"/>
              </a:spcAft>
              <a:buSzPts val="1800"/>
              <a:buChar char="○"/>
            </a:pPr>
            <a:r>
              <a:rPr lang="ko" sz="1800"/>
              <a:t>도구 중심 적응의 우위 - 최근 연구 결과에 따르면, 고정된 백본 주변에 작은 서브에이전트를 훈련시키는 </a:t>
            </a:r>
            <a:r>
              <a:rPr b="1" lang="ko" sz="1800">
                <a:solidFill>
                  <a:srgbClr val="0000FF"/>
                </a:solidFill>
              </a:rPr>
              <a:t>T2 방식이 A2 방식보다 훨씬 적은 데이터로도 대등하거나 더 나은 성능</a:t>
            </a:r>
            <a:endParaRPr b="1" sz="1800">
              <a:solidFill>
                <a:srgbClr val="0000FF"/>
              </a:solidFill>
            </a:endParaRPr>
          </a:p>
          <a:p>
            <a:pPr indent="-342900" lvl="1" marL="914400" rtl="0" algn="l">
              <a:lnSpc>
                <a:spcPct val="115000"/>
              </a:lnSpc>
              <a:spcBef>
                <a:spcPts val="0"/>
              </a:spcBef>
              <a:spcAft>
                <a:spcPts val="0"/>
              </a:spcAft>
              <a:buSzPts val="1800"/>
              <a:buChar char="○"/>
            </a:pPr>
            <a:r>
              <a:rPr lang="ko" sz="1800"/>
              <a:t>T2 서브에이전트가 일반적인 추론 능력을 다시 배울 필요 없이 '</a:t>
            </a:r>
            <a:r>
              <a:rPr b="1" lang="ko" sz="1800"/>
              <a:t>절차적 기술'에만 집중</a:t>
            </a:r>
            <a:r>
              <a:rPr lang="ko" sz="1800"/>
              <a:t>하기 때문입니다.</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60"/>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비교 분석 II - 일반화와 모듈화</a:t>
            </a:r>
            <a:endParaRPr sz="2400"/>
          </a:p>
        </p:txBody>
      </p:sp>
      <p:sp>
        <p:nvSpPr>
          <p:cNvPr id="326" name="Google Shape;326;p60"/>
          <p:cNvSpPr txBox="1"/>
          <p:nvPr>
            <p:ph idx="1" type="body"/>
          </p:nvPr>
        </p:nvSpPr>
        <p:spPr>
          <a:xfrm>
            <a:off x="386925" y="756850"/>
            <a:ext cx="8595000" cy="4279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일반화 능력 (Generalization Capability)</a:t>
            </a:r>
            <a:endParaRPr sz="2000"/>
          </a:p>
          <a:p>
            <a:pPr indent="-355600" lvl="1" marL="914400" rtl="0" algn="l">
              <a:lnSpc>
                <a:spcPct val="115000"/>
              </a:lnSpc>
              <a:spcBef>
                <a:spcPts val="0"/>
              </a:spcBef>
              <a:spcAft>
                <a:spcPts val="0"/>
              </a:spcAft>
              <a:buSzPts val="2000"/>
              <a:buChar char="○"/>
            </a:pPr>
            <a:r>
              <a:rPr lang="ko" sz="2000"/>
              <a:t>T1: 광범위한 데이터 분포에서 학습된 도구들은 서로 다른 에이전트나 작업 환경에서도 잘 일반화</a:t>
            </a:r>
            <a:endParaRPr sz="2000"/>
          </a:p>
          <a:p>
            <a:pPr indent="-355600" lvl="1" marL="914400" rtl="0" algn="l">
              <a:lnSpc>
                <a:spcPct val="115000"/>
              </a:lnSpc>
              <a:spcBef>
                <a:spcPts val="0"/>
              </a:spcBef>
              <a:spcAft>
                <a:spcPts val="0"/>
              </a:spcAft>
              <a:buSzPts val="2000"/>
              <a:buChar char="○"/>
            </a:pPr>
            <a:r>
              <a:rPr lang="ko" sz="2000"/>
              <a:t>T2: 자신을 감독하는 강력한 기초 모델의 편향(inductive biases)을 물려받아 교차 도메인에서 견고함을 보이는 경우가 많음</a:t>
            </a:r>
            <a:endParaRPr sz="2000"/>
          </a:p>
          <a:p>
            <a:pPr indent="-355600" lvl="1" marL="914400" rtl="0" algn="l">
              <a:lnSpc>
                <a:spcPct val="115000"/>
              </a:lnSpc>
              <a:spcBef>
                <a:spcPts val="0"/>
              </a:spcBef>
              <a:spcAft>
                <a:spcPts val="0"/>
              </a:spcAft>
              <a:buSzPts val="2000"/>
              <a:buChar char="○"/>
            </a:pPr>
            <a:r>
              <a:rPr lang="ko" sz="2000"/>
              <a:t>A1/A2: 특정 환경에 최적화(on-policy)될 경우, 명시적인 정규화 없이는 해당 환경에 과적합(Overfitting)될 위험이 큼.</a:t>
            </a:r>
            <a:endParaRPr sz="2000"/>
          </a:p>
          <a:p>
            <a:pPr indent="-355600" lvl="0" marL="457200" rtl="0" algn="l">
              <a:lnSpc>
                <a:spcPct val="115000"/>
              </a:lnSpc>
              <a:spcBef>
                <a:spcPts val="0"/>
              </a:spcBef>
              <a:spcAft>
                <a:spcPts val="0"/>
              </a:spcAft>
              <a:buSzPts val="2000"/>
              <a:buChar char="●"/>
            </a:pPr>
            <a:r>
              <a:rPr lang="ko" sz="2000"/>
              <a:t>모듈성</a:t>
            </a:r>
            <a:endParaRPr sz="2000"/>
          </a:p>
          <a:p>
            <a:pPr indent="-355600" lvl="1" marL="914400" rtl="0" algn="l">
              <a:lnSpc>
                <a:spcPct val="115000"/>
              </a:lnSpc>
              <a:spcBef>
                <a:spcPts val="0"/>
              </a:spcBef>
              <a:spcAft>
                <a:spcPts val="0"/>
              </a:spcAft>
              <a:buSzPts val="2000"/>
              <a:buChar char="○"/>
            </a:pPr>
            <a:r>
              <a:rPr lang="ko" sz="2000"/>
              <a:t>T1/T2는 에이전트를 건드리지 않고도 '핫스왑(Hot-swapping)'하거나 독립적으로 업그레이드할 수 있어 시스템 유지보수가 쉬운 편</a:t>
            </a:r>
            <a:endParaRPr sz="2000"/>
          </a:p>
          <a:p>
            <a:pPr indent="-355600" lvl="1" marL="914400" rtl="0" algn="l">
              <a:lnSpc>
                <a:spcPct val="115000"/>
              </a:lnSpc>
              <a:spcBef>
                <a:spcPts val="0"/>
              </a:spcBef>
              <a:spcAft>
                <a:spcPts val="0"/>
              </a:spcAft>
              <a:buSzPts val="2000"/>
              <a:buChar char="○"/>
            </a:pPr>
            <a:r>
              <a:rPr lang="ko" sz="2000"/>
              <a:t>A1/A2는 Monolithic 으로 새로운 기능을 추가할 때마다 전체를 다시 학습시켜야 하며 이 과정에서 '</a:t>
            </a:r>
            <a:r>
              <a:rPr lang="ko" sz="2000"/>
              <a:t>Catastrophic Forgetting </a:t>
            </a:r>
            <a:r>
              <a:rPr lang="ko" sz="2000"/>
              <a:t>발생 가능</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61"/>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이상적 패러다임 - 하이브리드 시스템</a:t>
            </a:r>
            <a:endParaRPr sz="2400"/>
          </a:p>
        </p:txBody>
      </p:sp>
      <p:sp>
        <p:nvSpPr>
          <p:cNvPr id="332" name="Google Shape;332;p61"/>
          <p:cNvSpPr txBox="1"/>
          <p:nvPr>
            <p:ph idx="1" type="body"/>
          </p:nvPr>
        </p:nvSpPr>
        <p:spPr>
          <a:xfrm>
            <a:off x="386925" y="756850"/>
            <a:ext cx="8595000" cy="4279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평상시에는 비용이 저렴하고 효율적인 T1/T2 방식을 통해 시스템을 지속적으로 전문화하다가, 결정적인 시점에 A1/A2 업데이트를 단행하여 에이전트의 내부 추론 능력을 한 단계 도약시키는 하이브리드 전략</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ko" sz="2000"/>
              <a:t>하나의 거대한 단일 모델(Monolithic)이 아니라, '안정적인 추론 코어 = LLM’ '와 '지속적으로 진화하는 적응형 도구들'이 원칙적으로 조율된 연합체(Federation)</a:t>
            </a:r>
            <a:endParaRPr sz="2000"/>
          </a:p>
          <a:p>
            <a:pPr indent="0" lvl="0" marL="0" rtl="0" algn="l">
              <a:lnSpc>
                <a:spcPct val="115000"/>
              </a:lnSpc>
              <a:spcBef>
                <a:spcPts val="0"/>
              </a:spcBef>
              <a:spcAft>
                <a:spcPts val="0"/>
              </a:spcAft>
              <a:buNone/>
            </a:pPr>
            <a:r>
              <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62"/>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AI </a:t>
            </a:r>
            <a:r>
              <a:rPr lang="ko"/>
              <a:t>에이전트의 미래</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63"/>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에이전틱 AI의 주요 응용 분야</a:t>
            </a:r>
            <a:endParaRPr sz="2400"/>
          </a:p>
        </p:txBody>
      </p:sp>
      <p:sp>
        <p:nvSpPr>
          <p:cNvPr id="343" name="Google Shape;343;p63"/>
          <p:cNvSpPr txBox="1"/>
          <p:nvPr>
            <p:ph idx="1" type="body"/>
          </p:nvPr>
        </p:nvSpPr>
        <p:spPr>
          <a:xfrm>
            <a:off x="386925" y="756850"/>
            <a:ext cx="9270600" cy="42945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AutoNum type="arabicPeriod"/>
            </a:pPr>
            <a:r>
              <a:rPr lang="ko" sz="2000"/>
              <a:t>딥 리서치 (Deep Research) - 과학적 조사 및 지식 합성 자동화</a:t>
            </a:r>
            <a:endParaRPr sz="2000"/>
          </a:p>
          <a:p>
            <a:pPr indent="-355600" lvl="1" marL="914400" rtl="0" algn="l">
              <a:lnSpc>
                <a:spcPct val="115000"/>
              </a:lnSpc>
              <a:spcBef>
                <a:spcPts val="0"/>
              </a:spcBef>
              <a:spcAft>
                <a:spcPts val="0"/>
              </a:spcAft>
              <a:buSzPts val="2000"/>
              <a:buAutoNum type="alphaLcPeriod"/>
            </a:pPr>
            <a:r>
              <a:rPr lang="ko" sz="2000"/>
              <a:t>OpenAI DeepResearch, Claude deep-search</a:t>
            </a:r>
            <a:endParaRPr sz="2000"/>
          </a:p>
          <a:p>
            <a:pPr indent="-355600" lvl="0" marL="457200" rtl="0" algn="l">
              <a:lnSpc>
                <a:spcPct val="115000"/>
              </a:lnSpc>
              <a:spcBef>
                <a:spcPts val="0"/>
              </a:spcBef>
              <a:spcAft>
                <a:spcPts val="0"/>
              </a:spcAft>
              <a:buSzPts val="2000"/>
              <a:buAutoNum type="arabicPeriod"/>
            </a:pPr>
            <a:r>
              <a:rPr lang="ko" sz="2000"/>
              <a:t>소프트웨어 개발 (Software Development) - 엔지니어링 워크플로우 자율화</a:t>
            </a:r>
            <a:endParaRPr sz="2000"/>
          </a:p>
          <a:p>
            <a:pPr indent="-355600" lvl="1" marL="914400" rtl="0" algn="l">
              <a:lnSpc>
                <a:spcPct val="115000"/>
              </a:lnSpc>
              <a:spcBef>
                <a:spcPts val="0"/>
              </a:spcBef>
              <a:spcAft>
                <a:spcPts val="0"/>
              </a:spcAft>
              <a:buSzPts val="2000"/>
              <a:buAutoNum type="alphaLcPeriod"/>
            </a:pPr>
            <a:r>
              <a:rPr lang="ko" sz="2000"/>
              <a:t>Cursor, Claude Code</a:t>
            </a:r>
            <a:endParaRPr sz="2000"/>
          </a:p>
          <a:p>
            <a:pPr indent="-355600" lvl="0" marL="457200" rtl="0" algn="l">
              <a:lnSpc>
                <a:spcPct val="115000"/>
              </a:lnSpc>
              <a:spcBef>
                <a:spcPts val="0"/>
              </a:spcBef>
              <a:spcAft>
                <a:spcPts val="0"/>
              </a:spcAft>
              <a:buSzPts val="2000"/>
              <a:buAutoNum type="arabicPeriod"/>
            </a:pPr>
            <a:r>
              <a:rPr lang="ko" sz="2000"/>
              <a:t>컴퓨터 사용 (Computer Use) - GUI 기반의 직접적인 장치 조작</a:t>
            </a:r>
            <a:endParaRPr sz="2000"/>
          </a:p>
          <a:p>
            <a:pPr indent="-355600" lvl="1" marL="914400" rtl="0" algn="l">
              <a:lnSpc>
                <a:spcPct val="115000"/>
              </a:lnSpc>
              <a:spcBef>
                <a:spcPts val="0"/>
              </a:spcBef>
              <a:spcAft>
                <a:spcPts val="0"/>
              </a:spcAft>
              <a:buSzPts val="2000"/>
              <a:buAutoNum type="alphaLcPeriod"/>
            </a:pPr>
            <a:r>
              <a:rPr lang="ko" sz="2000"/>
              <a:t>OpenCUA: 대규모 GUI 데이터를 통해 화면 요소 식별 및 조작 역량 확보</a:t>
            </a:r>
            <a:endParaRPr sz="2000"/>
          </a:p>
          <a:p>
            <a:pPr indent="-355600" lvl="1" marL="914400" rtl="0" algn="l">
              <a:lnSpc>
                <a:spcPct val="115000"/>
              </a:lnSpc>
              <a:spcBef>
                <a:spcPts val="0"/>
              </a:spcBef>
              <a:spcAft>
                <a:spcPts val="0"/>
              </a:spcAft>
              <a:buSzPts val="2000"/>
              <a:buAutoNum type="alphaLcPeriod"/>
            </a:pPr>
            <a:r>
              <a:rPr lang="ko" sz="2000"/>
              <a:t>AgentTrek: 웹 튜토리얼을 통해 새로운 인터페이스 패턴 자율 학습</a:t>
            </a:r>
            <a:endParaRPr sz="2000"/>
          </a:p>
          <a:p>
            <a:pPr indent="-355600" lvl="1" marL="914400" rtl="0" algn="l">
              <a:lnSpc>
                <a:spcPct val="115000"/>
              </a:lnSpc>
              <a:spcBef>
                <a:spcPts val="0"/>
              </a:spcBef>
              <a:spcAft>
                <a:spcPts val="0"/>
              </a:spcAft>
              <a:buSzPts val="2000"/>
              <a:buAutoNum type="alphaLcPeriod"/>
            </a:pPr>
            <a:r>
              <a:rPr lang="ko" sz="2000"/>
              <a:t> ACE (Agentic Context Engineering): 변화하는 화면 문맥을 '플레이북'으로 구조화하여 실행 지연 시간 감소</a:t>
            </a:r>
            <a:endParaRPr sz="2000"/>
          </a:p>
          <a:p>
            <a:pPr indent="-355600" lvl="0" marL="457200" rtl="0" algn="l">
              <a:lnSpc>
                <a:spcPct val="115000"/>
              </a:lnSpc>
              <a:spcBef>
                <a:spcPts val="0"/>
              </a:spcBef>
              <a:spcAft>
                <a:spcPts val="0"/>
              </a:spcAft>
              <a:buSzPts val="2000"/>
              <a:buAutoNum type="arabicPeriod"/>
            </a:pPr>
            <a:r>
              <a:rPr lang="ko" sz="2000"/>
              <a:t>약물 발견 및 개발 (Drug Discovery) - 생물 의학 파이프라인의 혁신</a:t>
            </a:r>
            <a:endParaRPr sz="2000"/>
          </a:p>
          <a:p>
            <a:pPr indent="-355600" lvl="1" marL="914400" rtl="0" algn="l">
              <a:lnSpc>
                <a:spcPct val="115000"/>
              </a:lnSpc>
              <a:spcBef>
                <a:spcPts val="0"/>
              </a:spcBef>
              <a:spcAft>
                <a:spcPts val="0"/>
              </a:spcAft>
              <a:buSzPts val="2000"/>
              <a:buAutoNum type="alphaLcPeriod"/>
            </a:pPr>
            <a:r>
              <a:rPr lang="ko" sz="2000"/>
              <a:t>GeneAgent, SyntheMol</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4"/>
          <p:cNvSpPr txBox="1"/>
          <p:nvPr>
            <p:ph type="title"/>
          </p:nvPr>
        </p:nvSpPr>
        <p:spPr>
          <a:xfrm>
            <a:off x="361750" y="153826"/>
            <a:ext cx="7886700" cy="520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미래의 도전 과제 - 4대도전 과제</a:t>
            </a:r>
            <a:endParaRPr sz="2400"/>
          </a:p>
        </p:txBody>
      </p:sp>
      <p:sp>
        <p:nvSpPr>
          <p:cNvPr id="349" name="Google Shape;349;p64"/>
          <p:cNvSpPr txBox="1"/>
          <p:nvPr>
            <p:ph idx="1" type="body"/>
          </p:nvPr>
        </p:nvSpPr>
        <p:spPr>
          <a:xfrm>
            <a:off x="386917" y="840878"/>
            <a:ext cx="8129700" cy="41643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AutoNum type="arabicPeriod"/>
            </a:pPr>
            <a:r>
              <a:rPr lang="ko" sz="2000"/>
              <a:t>공생적 적응 (Co-Adaptation)</a:t>
            </a:r>
            <a:endParaRPr sz="2000"/>
          </a:p>
          <a:p>
            <a:pPr indent="-355600" lvl="1" marL="914400" rtl="0" algn="l">
              <a:lnSpc>
                <a:spcPct val="115000"/>
              </a:lnSpc>
              <a:spcBef>
                <a:spcPts val="0"/>
              </a:spcBef>
              <a:spcAft>
                <a:spcPts val="0"/>
              </a:spcAft>
              <a:buSzPts val="2000"/>
              <a:buAutoNum type="alphaLcPeriod"/>
            </a:pPr>
            <a:r>
              <a:rPr lang="ko" sz="2000"/>
              <a:t>에이전트(A)와 도구(T)를 동일한 학습 루프에서 동시 최적화: </a:t>
            </a:r>
            <a:br>
              <a:rPr lang="ko" sz="2000"/>
            </a:br>
            <a:r>
              <a:rPr lang="ko" sz="2000"/>
              <a:t>신용 할당(Credit Assignment) 문제, 붉은 여왕(Red Queen) 효과</a:t>
            </a:r>
            <a:endParaRPr sz="2000"/>
          </a:p>
          <a:p>
            <a:pPr indent="-355600" lvl="0" marL="457200" rtl="0" algn="l">
              <a:lnSpc>
                <a:spcPct val="115000"/>
              </a:lnSpc>
              <a:spcBef>
                <a:spcPts val="0"/>
              </a:spcBef>
              <a:spcAft>
                <a:spcPts val="0"/>
              </a:spcAft>
              <a:buSzPts val="2000"/>
              <a:buAutoNum type="arabicPeriod"/>
            </a:pPr>
            <a:r>
              <a:rPr lang="ko" sz="2000"/>
              <a:t>지속적 적응 (Continual Adaptation)</a:t>
            </a:r>
            <a:endParaRPr sz="2000"/>
          </a:p>
          <a:p>
            <a:pPr indent="-355600" lvl="1" marL="914400" rtl="0" algn="l">
              <a:lnSpc>
                <a:spcPct val="115000"/>
              </a:lnSpc>
              <a:spcBef>
                <a:spcPts val="0"/>
              </a:spcBef>
              <a:spcAft>
                <a:spcPts val="0"/>
              </a:spcAft>
              <a:buSzPts val="2000"/>
              <a:buAutoNum type="alphaLcPeriod"/>
            </a:pPr>
            <a:r>
              <a:rPr lang="ko" sz="2000"/>
              <a:t>새로운 지식을 배우면서 기존 지식을 잊는 '파괴적 망각(Catastrophic Forgetting)' 방지: PEFT(LoRA), agentic memory</a:t>
            </a:r>
            <a:endParaRPr sz="2000"/>
          </a:p>
          <a:p>
            <a:pPr indent="-355600" lvl="0" marL="457200" rtl="0" algn="l">
              <a:lnSpc>
                <a:spcPct val="115000"/>
              </a:lnSpc>
              <a:spcBef>
                <a:spcPts val="0"/>
              </a:spcBef>
              <a:spcAft>
                <a:spcPts val="0"/>
              </a:spcAft>
              <a:buSzPts val="2000"/>
              <a:buAutoNum type="arabicPeriod"/>
            </a:pPr>
            <a:r>
              <a:rPr lang="ko" sz="2000"/>
              <a:t>안전한 적응 (Safe Adaptation)</a:t>
            </a:r>
            <a:endParaRPr sz="2000"/>
          </a:p>
          <a:p>
            <a:pPr indent="-355600" lvl="1" marL="914400" rtl="0" algn="l">
              <a:lnSpc>
                <a:spcPct val="115000"/>
              </a:lnSpc>
              <a:spcBef>
                <a:spcPts val="0"/>
              </a:spcBef>
              <a:spcAft>
                <a:spcPts val="0"/>
              </a:spcAft>
              <a:buSzPts val="2000"/>
              <a:buAutoNum type="alphaLcPeriod"/>
            </a:pPr>
            <a:r>
              <a:rPr lang="ko" sz="2000"/>
              <a:t>Unsafe Exploration, Parasitic Adaptation</a:t>
            </a:r>
            <a:endParaRPr sz="2000"/>
          </a:p>
          <a:p>
            <a:pPr indent="-355600" lvl="0" marL="457200" rtl="0" algn="l">
              <a:lnSpc>
                <a:spcPct val="115000"/>
              </a:lnSpc>
              <a:spcBef>
                <a:spcPts val="0"/>
              </a:spcBef>
              <a:spcAft>
                <a:spcPts val="0"/>
              </a:spcAft>
              <a:buSzPts val="2000"/>
              <a:buAutoNum type="arabicPeriod"/>
            </a:pPr>
            <a:r>
              <a:rPr lang="ko" sz="2000"/>
              <a:t>효율적 적응 (Efficient Adaptation)</a:t>
            </a:r>
            <a:endParaRPr sz="2000"/>
          </a:p>
          <a:p>
            <a:pPr indent="-355600" lvl="1" marL="914400" rtl="0" algn="l">
              <a:lnSpc>
                <a:spcPct val="115000"/>
              </a:lnSpc>
              <a:spcBef>
                <a:spcPts val="0"/>
              </a:spcBef>
              <a:spcAft>
                <a:spcPts val="0"/>
              </a:spcAft>
              <a:buSzPts val="2000"/>
              <a:buAutoNum type="alphaLcPeriod"/>
            </a:pPr>
            <a:r>
              <a:rPr lang="ko" sz="2000"/>
              <a:t>거대 GPU 클러스터 의존도를 낮추고 모바일의 학습 가능성 타진</a:t>
            </a:r>
            <a:endParaRPr sz="2000"/>
          </a:p>
          <a:p>
            <a:pPr indent="0" lvl="0" marL="0" rtl="0" algn="l">
              <a:lnSpc>
                <a:spcPct val="115000"/>
              </a:lnSpc>
              <a:spcBef>
                <a:spcPts val="0"/>
              </a:spcBef>
              <a:spcAft>
                <a:spcPts val="0"/>
              </a:spcAft>
              <a:buNone/>
            </a:pPr>
            <a:r>
              <a:rPr lang="ko" sz="2000"/>
              <a:t>.</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5"/>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결론 및 미래 비전 - 하이브리드 아키텍처</a:t>
            </a:r>
            <a:endParaRPr sz="2400"/>
          </a:p>
        </p:txBody>
      </p:sp>
      <p:sp>
        <p:nvSpPr>
          <p:cNvPr id="355" name="Google Shape;355;p65"/>
          <p:cNvSpPr txBox="1"/>
          <p:nvPr>
            <p:ph idx="1" type="body"/>
          </p:nvPr>
        </p:nvSpPr>
        <p:spPr>
          <a:xfrm>
            <a:off x="361750" y="813900"/>
            <a:ext cx="8460600" cy="3655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지식(에이전트)과 기술(도구)이 분리되어 협력하는 연합체(Federation).</a:t>
            </a:r>
            <a:endParaRPr sz="2000"/>
          </a:p>
          <a:p>
            <a:pPr indent="-355600" lvl="1" marL="914400" rtl="0" algn="l">
              <a:lnSpc>
                <a:spcPct val="115000"/>
              </a:lnSpc>
              <a:spcBef>
                <a:spcPts val="0"/>
              </a:spcBef>
              <a:spcAft>
                <a:spcPts val="0"/>
              </a:spcAft>
              <a:buSzPts val="2000"/>
              <a:buChar char="○"/>
            </a:pPr>
            <a:r>
              <a:rPr lang="ko" sz="2000"/>
              <a:t>A1/A2: 가끔씩 단행되는 에이전트의 내부 추론 능력 도약.</a:t>
            </a:r>
            <a:endParaRPr sz="2000"/>
          </a:p>
          <a:p>
            <a:pPr indent="-355600" lvl="1" marL="914400" rtl="0" algn="l">
              <a:lnSpc>
                <a:spcPct val="115000"/>
              </a:lnSpc>
              <a:spcBef>
                <a:spcPts val="0"/>
              </a:spcBef>
              <a:spcAft>
                <a:spcPts val="0"/>
              </a:spcAft>
              <a:buSzPts val="2000"/>
              <a:buChar char="○"/>
            </a:pPr>
            <a:r>
              <a:rPr lang="ko" sz="2000"/>
              <a:t>T1/T2: 평상시의 저비용·고효율적인 시스템 전문화 유지.</a:t>
            </a:r>
            <a:endParaRPr sz="2000"/>
          </a:p>
          <a:p>
            <a:pPr indent="-355600" lvl="0" marL="457200" rtl="0" algn="l">
              <a:lnSpc>
                <a:spcPct val="115000"/>
              </a:lnSpc>
              <a:spcBef>
                <a:spcPts val="0"/>
              </a:spcBef>
              <a:spcAft>
                <a:spcPts val="0"/>
              </a:spcAft>
              <a:buSzPts val="2000"/>
              <a:buChar char="●"/>
            </a:pPr>
            <a:r>
              <a:rPr lang="ko" sz="2000"/>
              <a:t>핵심 통찰: 안정적인 추론 코어와 지속 진화하는 적응형 도구 생태계의 조화</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6"/>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END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디자인 사용자 지정">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사용자 지정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